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2" r:id="rId6"/>
    <p:sldId id="264" r:id="rId7"/>
    <p:sldId id="266" r:id="rId8"/>
    <p:sldId id="267" r:id="rId9"/>
    <p:sldId id="268" r:id="rId10"/>
    <p:sldId id="270" r:id="rId11"/>
    <p:sldId id="27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F9B40F1-41D3-4D61-A290-119CE7E63B8A}">
          <p14:sldIdLst>
            <p14:sldId id="256"/>
            <p14:sldId id="258"/>
            <p14:sldId id="259"/>
            <p14:sldId id="260"/>
            <p14:sldId id="262"/>
            <p14:sldId id="264"/>
            <p14:sldId id="266"/>
            <p14:sldId id="267"/>
            <p14:sldId id="268"/>
            <p14:sldId id="270"/>
            <p14:sldId id="27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0044FF"/>
    <a:srgbClr val="0000FF"/>
    <a:srgbClr val="000099"/>
    <a:srgbClr val="0D33B3"/>
    <a:srgbClr val="1A66CC"/>
    <a:srgbClr val="2699E6"/>
    <a:srgbClr val="33CCFF"/>
    <a:srgbClr val="2337C6"/>
    <a:srgbClr val="3B82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324" y="-6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8330D-F252-4B57-F846-3611F40A85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4F3A7C-4859-03D2-C36A-0D9649982D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3469B-63DE-F8DF-74A9-F15AAEC69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F0D3-73D5-4E03-9AF4-F3C5B52F9FF7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6F995-ECD5-8ECB-97ED-330475A14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C6682-DC09-61D0-327F-632C66755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D85B6-7024-4EE3-94EC-2A719DD15F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7362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D0C35-A0AD-6176-91E5-E44661ABE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993BD-DCD3-654B-395A-F7946ADCB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33AEB-C120-538C-01F0-5050C2412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F0D3-73D5-4E03-9AF4-F3C5B52F9FF7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99E9C-8DC0-C2BD-5727-216C66B6E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D6CBF-FF8C-9663-4D54-A27F978B7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D85B6-7024-4EE3-94EC-2A719DD15F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9809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069CF-E0B3-1295-029B-A5036156C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E5BC01-3D8B-370E-EF85-E09C312F66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741B8-3CC0-68EF-DEDE-0D7722D3F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F0D3-73D5-4E03-9AF4-F3C5B52F9FF7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16F7E-55A1-6876-1821-EBD4E001A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82BB7-5F05-5D45-148E-0DBCDFA33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D85B6-7024-4EE3-94EC-2A719DD15F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804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9189C-E8B5-1206-9922-C3D6CDBEE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3F6F9-24FE-38F6-A71C-FC7B85A5EA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F9E74E-CEB5-BD85-450B-4FA75FB293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6FB403-AF92-A663-BFA3-A2D73FE8A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F0D3-73D5-4E03-9AF4-F3C5B52F9FF7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25CCE8-758C-8A12-411E-C6C500EE2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844236-A353-993F-3DF4-3F851FC20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D85B6-7024-4EE3-94EC-2A719DD15F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588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CEEAF-BDE0-73A0-D38F-6F3151F37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70224F-D086-1870-120B-4FEA8B483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4BE08F-7CF4-F151-0AFD-7EB83DDC7F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1BFBFD-B7AE-B7ED-A671-4B85768323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E9AFD1-89A5-2708-E8F4-DB61DC6B1D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F92DA5-4131-D647-6F0E-C0503D3B7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F0D3-73D5-4E03-9AF4-F3C5B52F9FF7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298D80-D0C3-5893-7279-1CF4EACBD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C88500-57ED-0BE2-9264-94A701F7B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D85B6-7024-4EE3-94EC-2A719DD15F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543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6A883-14A4-D9F1-65D6-7822203F7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13BECE-689E-EE56-5DC0-1DF2EC783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F0D3-73D5-4E03-9AF4-F3C5B52F9FF7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24CEFB-259C-09E5-191A-785D7AAB2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98BAB3-544F-7052-28C9-4C02AA478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D85B6-7024-4EE3-94EC-2A719DD15F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597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609D6B-AD9F-CBD1-D7DD-9E8CB5A47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F0D3-73D5-4E03-9AF4-F3C5B52F9FF7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9059C4-762A-3C15-101F-58BE70B61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53234-21BC-0277-64E2-001251C6B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D85B6-7024-4EE3-94EC-2A719DD15F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7458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79AC7-4AD3-244D-9EA9-6CFF3E31F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6620E-38B6-3A8C-83F7-2A7EEC2D1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5C9E04-0E2D-763E-3DD3-DF5EF8E971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3DF52A-26FE-0014-6348-B660BB8BB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F0D3-73D5-4E03-9AF4-F3C5B52F9FF7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6503B3-2713-EE24-1C87-F05158B85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F74D43-2F61-9EB6-64CA-357AD2D21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D85B6-7024-4EE3-94EC-2A719DD15F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9847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10F45-5FCE-CA47-A6D1-97B59E6DF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D47EB7-A24A-D058-0B97-58213471F0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9E2B2C-E8D3-6924-A4D6-DEBD438E69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C21BCD-F917-7478-E6C5-E086066DF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F0D3-73D5-4E03-9AF4-F3C5B52F9FF7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5A3065-9F6F-4C53-724B-087494116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7302F0-6C1A-49CF-EED0-19EDD1198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D85B6-7024-4EE3-94EC-2A719DD15F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8137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80E85-D3AD-4F90-D98A-B55847BEB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71D741-FFBE-F4CE-E345-7409561E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8AED3-8DAD-83AE-D502-DE461EB35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F0D3-73D5-4E03-9AF4-F3C5B52F9FF7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2E1C2-BA84-6EA0-E456-C0BC91104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D284E-0CAB-52A5-AF9D-5EAFE7E0F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D85B6-7024-4EE3-94EC-2A719DD15F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1928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6478A5-5BEA-F11E-F689-FF8B9257D0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73367B-BFAD-28BE-996E-E85AE2C926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56577F-CB81-189E-6CFB-F0FBD8BEA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F0D3-73D5-4E03-9AF4-F3C5B52F9FF7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A3253-2373-27A9-3178-2EC1BC0C9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B9E5D-2E0F-FA3C-3E22-F788DAD3C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D85B6-7024-4EE3-94EC-2A719DD15F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6538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EA10CE-4F19-74CB-C499-A08835D86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F662B-F26E-BFAC-5092-A9A7F81CE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67DC6-09CE-9ED3-356C-472AE4F7D0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BCF0D3-73D5-4E03-9AF4-F3C5B52F9FF7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66995-E1B8-7257-87A1-6E9196E0F4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1BE94-7CD3-F294-DEE7-C42B16F965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0D85B6-7024-4EE3-94EC-2A719DD15F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2082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96A0B-5132-FE0B-E8BF-7DD1BD9AEC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Century" panose="02040604050505020304" pitchFamily="18" charset="0"/>
              </a:rPr>
              <a:t>Transformative Impact of AI Agents in Apparel Retail</a:t>
            </a:r>
            <a:endParaRPr lang="en-IN" b="1" dirty="0">
              <a:latin typeface="Century" panose="020406040505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3A85E7-6587-B13F-A3B8-3DC69D2BFF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2337C6"/>
                </a:solidFill>
                <a:latin typeface="Century" panose="02040604050505020304" pitchFamily="18" charset="0"/>
              </a:rPr>
              <a:t>MARKET ANALYSIS</a:t>
            </a:r>
            <a:endParaRPr lang="en-IN" b="1" dirty="0">
              <a:solidFill>
                <a:srgbClr val="2337C6"/>
              </a:solidFill>
              <a:latin typeface="Century" panose="020406040505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CED587-BE3E-A1E5-7638-E79B4E5F3319}"/>
              </a:ext>
            </a:extLst>
          </p:cNvPr>
          <p:cNvSpPr txBox="1"/>
          <p:nvPr/>
        </p:nvSpPr>
        <p:spPr>
          <a:xfrm>
            <a:off x="402771" y="6100990"/>
            <a:ext cx="6934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0" dirty="0">
                <a:solidFill>
                  <a:srgbClr val="4D4D4D"/>
                </a:solidFill>
                <a:effectLst/>
                <a:latin typeface="Outfit"/>
              </a:rPr>
              <a:t>Exploring the role of multimodal AI in reshaping the U.S. apparel market</a:t>
            </a:r>
            <a:endParaRPr lang="en-IN" dirty="0"/>
          </a:p>
        </p:txBody>
      </p:sp>
      <p:sp>
        <p:nvSpPr>
          <p:cNvPr id="6" name="L-Shape 5">
            <a:extLst>
              <a:ext uri="{FF2B5EF4-FFF2-40B4-BE49-F238E27FC236}">
                <a16:creationId xmlns:a16="http://schemas.microsoft.com/office/drawing/2014/main" id="{C2118690-9D24-ED9A-C072-DECF9ED14CD9}"/>
              </a:ext>
            </a:extLst>
          </p:cNvPr>
          <p:cNvSpPr/>
          <p:nvPr/>
        </p:nvSpPr>
        <p:spPr>
          <a:xfrm rot="10800000">
            <a:off x="10932000" y="0"/>
            <a:ext cx="1260000" cy="1260000"/>
          </a:xfrm>
          <a:prstGeom prst="corner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99053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905AA6-CE57-5904-D8C3-63440C16EA85}"/>
              </a:ext>
            </a:extLst>
          </p:cNvPr>
          <p:cNvSpPr txBox="1"/>
          <p:nvPr/>
        </p:nvSpPr>
        <p:spPr>
          <a:xfrm>
            <a:off x="457200" y="305191"/>
            <a:ext cx="72009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dirty="0">
                <a:solidFill>
                  <a:srgbClr val="000000"/>
                </a:solidFill>
                <a:effectLst/>
                <a:latin typeface="Century" panose="02040604050505020304" pitchFamily="18" charset="0"/>
              </a:rPr>
              <a:t>Transforming Apparel Retail with AI</a:t>
            </a:r>
            <a:endParaRPr lang="en-IN" sz="3200" b="1" dirty="0">
              <a:latin typeface="Century" panose="02040604050505020304" pitchFamily="18" charset="0"/>
            </a:endParaRPr>
          </a:p>
        </p:txBody>
      </p:sp>
      <p:sp>
        <p:nvSpPr>
          <p:cNvPr id="4" name="L-Shape 3">
            <a:extLst>
              <a:ext uri="{FF2B5EF4-FFF2-40B4-BE49-F238E27FC236}">
                <a16:creationId xmlns:a16="http://schemas.microsoft.com/office/drawing/2014/main" id="{6A4D1F4C-7BBC-B70C-FCAF-F15CB81B8EDB}"/>
              </a:ext>
            </a:extLst>
          </p:cNvPr>
          <p:cNvSpPr/>
          <p:nvPr/>
        </p:nvSpPr>
        <p:spPr>
          <a:xfrm rot="10800000">
            <a:off x="10932000" y="0"/>
            <a:ext cx="1260000" cy="1260000"/>
          </a:xfrm>
          <a:prstGeom prst="corner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DE0E16-8769-0946-DF68-860CA033D0E3}"/>
              </a:ext>
            </a:extLst>
          </p:cNvPr>
          <p:cNvSpPr txBox="1"/>
          <p:nvPr/>
        </p:nvSpPr>
        <p:spPr>
          <a:xfrm>
            <a:off x="457200" y="828411"/>
            <a:ext cx="7323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D4D4D"/>
                </a:solidFill>
                <a:effectLst/>
                <a:latin typeface="Outfit"/>
              </a:rPr>
              <a:t>Exploring the impact of AI agents on customer engagement and sales growth</a:t>
            </a:r>
            <a:endParaRPr lang="en-IN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23230BE-C94D-5004-85CC-B3CF1734BB6B}"/>
              </a:ext>
            </a:extLst>
          </p:cNvPr>
          <p:cNvGrpSpPr/>
          <p:nvPr/>
        </p:nvGrpSpPr>
        <p:grpSpPr>
          <a:xfrm>
            <a:off x="642257" y="1806246"/>
            <a:ext cx="11136086" cy="774963"/>
            <a:chOff x="642257" y="1806246"/>
            <a:chExt cx="11136086" cy="774963"/>
          </a:xfrm>
        </p:grpSpPr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9BD0195F-FB5D-899C-203D-6050CACF08F1}"/>
                </a:ext>
              </a:extLst>
            </p:cNvPr>
            <p:cNvSpPr/>
            <p:nvPr/>
          </p:nvSpPr>
          <p:spPr>
            <a:xfrm>
              <a:off x="642257" y="1806246"/>
              <a:ext cx="457200" cy="457200"/>
            </a:xfrm>
            <a:prstGeom prst="flowChartConnector">
              <a:avLst/>
            </a:prstGeom>
            <a:solidFill>
              <a:srgbClr val="33CCFF"/>
            </a:solidFill>
            <a:ln>
              <a:solidFill>
                <a:srgbClr val="33CC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50" b="1" dirty="0"/>
                <a:t>01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F5B3931-725F-02F0-27B0-6F92282D7A45}"/>
                </a:ext>
              </a:extLst>
            </p:cNvPr>
            <p:cNvSpPr txBox="1"/>
            <p:nvPr/>
          </p:nvSpPr>
          <p:spPr>
            <a:xfrm>
              <a:off x="1189265" y="1849721"/>
              <a:ext cx="610144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i="0" dirty="0">
                  <a:solidFill>
                    <a:srgbClr val="000000"/>
                  </a:solidFill>
                  <a:effectLst/>
                  <a:latin typeface="Century" panose="02040604050505020304" pitchFamily="18" charset="0"/>
                </a:rPr>
                <a:t>Significant AI investment growth</a:t>
              </a:r>
              <a:endParaRPr lang="en-IN" b="1" dirty="0">
                <a:latin typeface="Century" panose="02040604050505020304" pitchFamily="18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77A8483-F108-7F64-74B7-E79AF5F72B85}"/>
                </a:ext>
              </a:extLst>
            </p:cNvPr>
            <p:cNvSpPr txBox="1"/>
            <p:nvPr/>
          </p:nvSpPr>
          <p:spPr>
            <a:xfrm>
              <a:off x="1189265" y="2194308"/>
              <a:ext cx="10589078" cy="3869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ts val="2538"/>
                </a:lnSpc>
              </a:pPr>
              <a:r>
                <a:rPr lang="en-US" sz="1400" b="0" i="0" dirty="0">
                  <a:solidFill>
                    <a:srgbClr val="000000"/>
                  </a:solidFill>
                  <a:effectLst/>
                  <a:latin typeface="Outfit"/>
                </a:rPr>
                <a:t>76% of retailers are planning to </a:t>
              </a:r>
              <a:r>
                <a:rPr lang="en-US" sz="1400" b="1" i="0" dirty="0">
                  <a:solidFill>
                    <a:srgbClr val="000000"/>
                  </a:solidFill>
                  <a:effectLst/>
                  <a:latin typeface="Outfit"/>
                </a:rPr>
                <a:t>increase</a:t>
              </a:r>
              <a:r>
                <a:rPr lang="en-US" sz="1400" b="0" i="0" dirty="0">
                  <a:solidFill>
                    <a:srgbClr val="000000"/>
                  </a:solidFill>
                  <a:effectLst/>
                  <a:latin typeface="Outfit"/>
                </a:rPr>
                <a:t> their </a:t>
              </a:r>
              <a:r>
                <a:rPr lang="en-US" sz="1400" b="1" i="0" dirty="0">
                  <a:solidFill>
                    <a:srgbClr val="000000"/>
                  </a:solidFill>
                  <a:effectLst/>
                  <a:latin typeface="Outfit"/>
                </a:rPr>
                <a:t>AI investment</a:t>
              </a:r>
              <a:r>
                <a:rPr lang="en-US" sz="1400" b="0" i="0" dirty="0">
                  <a:solidFill>
                    <a:srgbClr val="000000"/>
                  </a:solidFill>
                  <a:effectLst/>
                  <a:latin typeface="Outfit"/>
                </a:rPr>
                <a:t> by 2025, indicating a strong confidence in technology's potential.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4945CC0-C2AC-D3E4-E4E5-70CB355E3502}"/>
              </a:ext>
            </a:extLst>
          </p:cNvPr>
          <p:cNvGrpSpPr/>
          <p:nvPr/>
        </p:nvGrpSpPr>
        <p:grpSpPr>
          <a:xfrm>
            <a:off x="642257" y="2740554"/>
            <a:ext cx="11767456" cy="774963"/>
            <a:chOff x="642257" y="1806246"/>
            <a:chExt cx="11767456" cy="774963"/>
          </a:xfrm>
        </p:grpSpPr>
        <p:sp>
          <p:nvSpPr>
            <p:cNvPr id="26" name="Flowchart: Connector 25">
              <a:extLst>
                <a:ext uri="{FF2B5EF4-FFF2-40B4-BE49-F238E27FC236}">
                  <a16:creationId xmlns:a16="http://schemas.microsoft.com/office/drawing/2014/main" id="{C10522BC-6252-1ECF-88C3-BC76C6B64B17}"/>
                </a:ext>
              </a:extLst>
            </p:cNvPr>
            <p:cNvSpPr/>
            <p:nvPr/>
          </p:nvSpPr>
          <p:spPr>
            <a:xfrm>
              <a:off x="642257" y="1806246"/>
              <a:ext cx="457200" cy="457200"/>
            </a:xfrm>
            <a:prstGeom prst="flowChartConnector">
              <a:avLst/>
            </a:prstGeom>
            <a:solidFill>
              <a:srgbClr val="2699E6"/>
            </a:solidFill>
            <a:ln>
              <a:solidFill>
                <a:srgbClr val="2699E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50" b="1" dirty="0"/>
                <a:t>02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EB93ED3-9857-64DA-2E58-E328861E8EA6}"/>
                </a:ext>
              </a:extLst>
            </p:cNvPr>
            <p:cNvSpPr txBox="1"/>
            <p:nvPr/>
          </p:nvSpPr>
          <p:spPr>
            <a:xfrm>
              <a:off x="1189265" y="1849721"/>
              <a:ext cx="610144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i="0" dirty="0">
                  <a:solidFill>
                    <a:srgbClr val="000000"/>
                  </a:solidFill>
                  <a:effectLst/>
                  <a:latin typeface="Century" panose="02040604050505020304" pitchFamily="18" charset="0"/>
                </a:rPr>
                <a:t>Market expansion forecast</a:t>
              </a:r>
              <a:endParaRPr lang="en-IN" b="1" dirty="0">
                <a:latin typeface="Century" panose="02040604050505020304" pitchFamily="18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E950072-7B4C-520D-5C5C-1753B6A388BC}"/>
                </a:ext>
              </a:extLst>
            </p:cNvPr>
            <p:cNvSpPr txBox="1"/>
            <p:nvPr/>
          </p:nvSpPr>
          <p:spPr>
            <a:xfrm>
              <a:off x="1189264" y="2194308"/>
              <a:ext cx="11220449" cy="3869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ts val="2538"/>
                </a:lnSpc>
              </a:pPr>
              <a:r>
                <a:rPr lang="en-US" sz="1400" b="0" i="0" dirty="0">
                  <a:solidFill>
                    <a:srgbClr val="000000"/>
                  </a:solidFill>
                  <a:effectLst/>
                  <a:latin typeface="Outfit"/>
                </a:rPr>
                <a:t>The </a:t>
              </a:r>
              <a:r>
                <a:rPr lang="en-US" sz="1400" b="1" i="0" dirty="0">
                  <a:solidFill>
                    <a:srgbClr val="000000"/>
                  </a:solidFill>
                  <a:effectLst/>
                  <a:latin typeface="Outfit"/>
                </a:rPr>
                <a:t>apparel retail market</a:t>
              </a:r>
              <a:r>
                <a:rPr lang="en-US" sz="1400" b="0" i="0" dirty="0">
                  <a:solidFill>
                    <a:srgbClr val="000000"/>
                  </a:solidFill>
                  <a:effectLst/>
                  <a:latin typeface="Outfit"/>
                </a:rPr>
                <a:t> is projected to grow from </a:t>
              </a:r>
              <a:r>
                <a:rPr lang="en-US" sz="1400" b="1" i="0" dirty="0">
                  <a:solidFill>
                    <a:srgbClr val="000000"/>
                  </a:solidFill>
                  <a:effectLst/>
                  <a:latin typeface="Outfit"/>
                </a:rPr>
                <a:t>$1.6 billion</a:t>
              </a:r>
              <a:r>
                <a:rPr lang="en-US" sz="1400" b="0" i="0" dirty="0">
                  <a:solidFill>
                    <a:srgbClr val="000000"/>
                  </a:solidFill>
                  <a:effectLst/>
                  <a:latin typeface="Outfit"/>
                </a:rPr>
                <a:t> in 2024 to </a:t>
              </a:r>
              <a:r>
                <a:rPr lang="en-US" sz="1400" b="1" i="0" dirty="0">
                  <a:solidFill>
                    <a:srgbClr val="000000"/>
                  </a:solidFill>
                  <a:effectLst/>
                  <a:latin typeface="Outfit"/>
                </a:rPr>
                <a:t>$2.23 billion</a:t>
              </a:r>
              <a:r>
                <a:rPr lang="en-US" sz="1400" b="0" i="0" dirty="0">
                  <a:solidFill>
                    <a:srgbClr val="000000"/>
                  </a:solidFill>
                  <a:effectLst/>
                  <a:latin typeface="Outfit"/>
                </a:rPr>
                <a:t> in 2025, reflecting a surge in AI applications.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D3A7009-D93D-DCEB-BF1B-FE255868CE90}"/>
              </a:ext>
            </a:extLst>
          </p:cNvPr>
          <p:cNvGrpSpPr/>
          <p:nvPr/>
        </p:nvGrpSpPr>
        <p:grpSpPr>
          <a:xfrm>
            <a:off x="642257" y="3660247"/>
            <a:ext cx="11397342" cy="768231"/>
            <a:chOff x="642257" y="1806246"/>
            <a:chExt cx="11397342" cy="768231"/>
          </a:xfrm>
        </p:grpSpPr>
        <p:sp>
          <p:nvSpPr>
            <p:cNvPr id="30" name="Flowchart: Connector 29">
              <a:extLst>
                <a:ext uri="{FF2B5EF4-FFF2-40B4-BE49-F238E27FC236}">
                  <a16:creationId xmlns:a16="http://schemas.microsoft.com/office/drawing/2014/main" id="{6B89F55B-272F-6B70-A1B7-07ECDD317881}"/>
                </a:ext>
              </a:extLst>
            </p:cNvPr>
            <p:cNvSpPr/>
            <p:nvPr/>
          </p:nvSpPr>
          <p:spPr>
            <a:xfrm>
              <a:off x="642257" y="1806246"/>
              <a:ext cx="457200" cy="457200"/>
            </a:xfrm>
            <a:prstGeom prst="flowChartConnector">
              <a:avLst/>
            </a:prstGeom>
            <a:solidFill>
              <a:srgbClr val="1A66CC"/>
            </a:solidFill>
            <a:ln>
              <a:solidFill>
                <a:srgbClr val="1A66C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50" b="1" dirty="0"/>
                <a:t>03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5C7FE4D-4608-790D-450E-2EA0F6B39B49}"/>
                </a:ext>
              </a:extLst>
            </p:cNvPr>
            <p:cNvSpPr txBox="1"/>
            <p:nvPr/>
          </p:nvSpPr>
          <p:spPr>
            <a:xfrm>
              <a:off x="1189265" y="1849721"/>
              <a:ext cx="610144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i="0" dirty="0">
                  <a:solidFill>
                    <a:srgbClr val="000000"/>
                  </a:solidFill>
                  <a:effectLst/>
                  <a:latin typeface="Century" panose="02040604050505020304" pitchFamily="18" charset="0"/>
                </a:rPr>
                <a:t>H&amp;M's response time improvement</a:t>
              </a:r>
              <a:endParaRPr lang="en-IN" b="1" dirty="0">
                <a:latin typeface="Century" panose="02040604050505020304" pitchFamily="18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FACA1B3-1974-A6F3-FC2E-61067251D527}"/>
                </a:ext>
              </a:extLst>
            </p:cNvPr>
            <p:cNvSpPr txBox="1"/>
            <p:nvPr/>
          </p:nvSpPr>
          <p:spPr>
            <a:xfrm>
              <a:off x="1189264" y="2194308"/>
              <a:ext cx="10850335" cy="3801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ts val="2538"/>
                </a:lnSpc>
              </a:pPr>
              <a:r>
                <a:rPr lang="en-US" sz="1400" i="0" dirty="0">
                  <a:solidFill>
                    <a:srgbClr val="000000"/>
                  </a:solidFill>
                  <a:effectLst/>
                  <a:latin typeface="Outfit"/>
                </a:rPr>
                <a:t>H&amp;M has successfully reduced </a:t>
              </a:r>
              <a:r>
                <a:rPr lang="en-US" sz="1400" b="1" i="0" dirty="0">
                  <a:solidFill>
                    <a:srgbClr val="000000"/>
                  </a:solidFill>
                  <a:effectLst/>
                  <a:latin typeface="Outfit"/>
                </a:rPr>
                <a:t>customer response times</a:t>
              </a:r>
              <a:r>
                <a:rPr lang="en-US" sz="1400" i="0" dirty="0">
                  <a:solidFill>
                    <a:srgbClr val="000000"/>
                  </a:solidFill>
                  <a:effectLst/>
                  <a:latin typeface="Outfit"/>
                </a:rPr>
                <a:t> from </a:t>
              </a:r>
              <a:r>
                <a:rPr lang="en-US" sz="1400" b="1" i="0" dirty="0">
                  <a:solidFill>
                    <a:srgbClr val="000000"/>
                  </a:solidFill>
                  <a:effectLst/>
                  <a:latin typeface="Outfit"/>
                </a:rPr>
                <a:t>2 hours to 30 minutes</a:t>
              </a:r>
              <a:r>
                <a:rPr lang="en-US" sz="1400" i="0" dirty="0">
                  <a:solidFill>
                    <a:srgbClr val="000000"/>
                  </a:solidFill>
                  <a:effectLst/>
                  <a:latin typeface="Outfit"/>
                </a:rPr>
                <a:t> by utilizing </a:t>
              </a:r>
              <a:r>
                <a:rPr lang="en-US" sz="1400" b="1" i="0" dirty="0">
                  <a:solidFill>
                    <a:srgbClr val="000000"/>
                  </a:solidFill>
                  <a:effectLst/>
                  <a:latin typeface="Outfit"/>
                </a:rPr>
                <a:t>AI chatbots</a:t>
              </a:r>
              <a:r>
                <a:rPr lang="en-US" sz="1400" i="0" dirty="0">
                  <a:solidFill>
                    <a:srgbClr val="000000"/>
                  </a:solidFill>
                  <a:effectLst/>
                  <a:latin typeface="Outfit"/>
                </a:rPr>
                <a:t>, enhancing the customer experience.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097D9C0-16D1-5B99-CEE8-A17A321662E0}"/>
              </a:ext>
            </a:extLst>
          </p:cNvPr>
          <p:cNvGrpSpPr/>
          <p:nvPr/>
        </p:nvGrpSpPr>
        <p:grpSpPr>
          <a:xfrm>
            <a:off x="642257" y="4577154"/>
            <a:ext cx="11397342" cy="768231"/>
            <a:chOff x="642257" y="1806246"/>
            <a:chExt cx="11397342" cy="768231"/>
          </a:xfrm>
        </p:grpSpPr>
        <p:sp>
          <p:nvSpPr>
            <p:cNvPr id="34" name="Flowchart: Connector 33">
              <a:extLst>
                <a:ext uri="{FF2B5EF4-FFF2-40B4-BE49-F238E27FC236}">
                  <a16:creationId xmlns:a16="http://schemas.microsoft.com/office/drawing/2014/main" id="{61469F62-B6D3-5F73-79DF-2AB2FD893AA0}"/>
                </a:ext>
              </a:extLst>
            </p:cNvPr>
            <p:cNvSpPr/>
            <p:nvPr/>
          </p:nvSpPr>
          <p:spPr>
            <a:xfrm>
              <a:off x="642257" y="1806246"/>
              <a:ext cx="457200" cy="457200"/>
            </a:xfrm>
            <a:prstGeom prst="flowChartConnector">
              <a:avLst/>
            </a:prstGeom>
            <a:solidFill>
              <a:srgbClr val="0D33B3"/>
            </a:solidFill>
            <a:ln>
              <a:solidFill>
                <a:srgbClr val="0D33B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50" b="1" dirty="0"/>
                <a:t>03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9BE4A06-7CC6-A1E7-4969-18018CB963FD}"/>
                </a:ext>
              </a:extLst>
            </p:cNvPr>
            <p:cNvSpPr txBox="1"/>
            <p:nvPr/>
          </p:nvSpPr>
          <p:spPr>
            <a:xfrm>
              <a:off x="1189265" y="1849721"/>
              <a:ext cx="610144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i="0" dirty="0">
                  <a:solidFill>
                    <a:srgbClr val="000000"/>
                  </a:solidFill>
                  <a:effectLst/>
                  <a:latin typeface="Century" panose="02040604050505020304" pitchFamily="18" charset="0"/>
                </a:rPr>
                <a:t>Gorgias autonomous support</a:t>
              </a:r>
              <a:endParaRPr lang="en-IN" b="1" dirty="0">
                <a:latin typeface="Century" panose="02040604050505020304" pitchFamily="18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AF8CA34-649C-9751-ECB0-A038A12A07C6}"/>
                </a:ext>
              </a:extLst>
            </p:cNvPr>
            <p:cNvSpPr txBox="1"/>
            <p:nvPr/>
          </p:nvSpPr>
          <p:spPr>
            <a:xfrm>
              <a:off x="1189264" y="2194308"/>
              <a:ext cx="10850335" cy="3801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ts val="2538"/>
                </a:lnSpc>
              </a:pPr>
              <a:r>
                <a:rPr lang="en-US" sz="1400" b="0" i="0" dirty="0">
                  <a:solidFill>
                    <a:srgbClr val="000000"/>
                  </a:solidFill>
                  <a:effectLst/>
                  <a:latin typeface="Outfit"/>
                </a:rPr>
                <a:t>Clients of </a:t>
              </a:r>
              <a:r>
                <a:rPr lang="en-US" sz="1400" b="1" i="0" dirty="0">
                  <a:solidFill>
                    <a:srgbClr val="000000"/>
                  </a:solidFill>
                  <a:effectLst/>
                  <a:latin typeface="Outfit"/>
                </a:rPr>
                <a:t>Gorgias</a:t>
              </a:r>
              <a:r>
                <a:rPr lang="en-US" sz="1400" b="0" i="0" dirty="0">
                  <a:solidFill>
                    <a:srgbClr val="000000"/>
                  </a:solidFill>
                  <a:effectLst/>
                  <a:latin typeface="Outfit"/>
                </a:rPr>
                <a:t> report that </a:t>
              </a:r>
              <a:r>
                <a:rPr lang="en-US" sz="1400" b="1" i="0" dirty="0">
                  <a:solidFill>
                    <a:srgbClr val="000000"/>
                  </a:solidFill>
                  <a:effectLst/>
                  <a:latin typeface="Outfit"/>
                </a:rPr>
                <a:t>60% of support inquiries</a:t>
              </a:r>
              <a:r>
                <a:rPr lang="en-US" sz="1400" b="0" i="0" dirty="0">
                  <a:solidFill>
                    <a:srgbClr val="000000"/>
                  </a:solidFill>
                  <a:effectLst/>
                  <a:latin typeface="Outfit"/>
                </a:rPr>
                <a:t> are resolved autonomously, showcasing the efficiency of AI in customer service.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3544B86-8260-253B-C0F4-472D9DEF2FCD}"/>
              </a:ext>
            </a:extLst>
          </p:cNvPr>
          <p:cNvGrpSpPr/>
          <p:nvPr/>
        </p:nvGrpSpPr>
        <p:grpSpPr>
          <a:xfrm>
            <a:off x="642257" y="5477376"/>
            <a:ext cx="11397342" cy="768231"/>
            <a:chOff x="642257" y="1806246"/>
            <a:chExt cx="11397342" cy="768231"/>
          </a:xfrm>
        </p:grpSpPr>
        <p:sp>
          <p:nvSpPr>
            <p:cNvPr id="38" name="Flowchart: Connector 37">
              <a:extLst>
                <a:ext uri="{FF2B5EF4-FFF2-40B4-BE49-F238E27FC236}">
                  <a16:creationId xmlns:a16="http://schemas.microsoft.com/office/drawing/2014/main" id="{8A90447A-199A-A58B-321C-3EAA834C13F2}"/>
                </a:ext>
              </a:extLst>
            </p:cNvPr>
            <p:cNvSpPr/>
            <p:nvPr/>
          </p:nvSpPr>
          <p:spPr>
            <a:xfrm>
              <a:off x="642257" y="1806246"/>
              <a:ext cx="457200" cy="457200"/>
            </a:xfrm>
            <a:prstGeom prst="flowChartConnector">
              <a:avLst/>
            </a:prstGeom>
            <a:solidFill>
              <a:srgbClr val="000099"/>
            </a:solidFill>
            <a:ln>
              <a:solidFill>
                <a:srgbClr val="00009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50" b="1" dirty="0"/>
                <a:t>03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D098C79-37D7-8B6D-98A4-3086E9750887}"/>
                </a:ext>
              </a:extLst>
            </p:cNvPr>
            <p:cNvSpPr txBox="1"/>
            <p:nvPr/>
          </p:nvSpPr>
          <p:spPr>
            <a:xfrm>
              <a:off x="1189265" y="1849721"/>
              <a:ext cx="610144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i="0" dirty="0">
                  <a:solidFill>
                    <a:srgbClr val="000000"/>
                  </a:solidFill>
                  <a:effectLst/>
                  <a:latin typeface="Century" panose="02040604050505020304" pitchFamily="18" charset="0"/>
                </a:rPr>
                <a:t>Nike's digital revenue boost</a:t>
              </a:r>
              <a:endParaRPr lang="en-IN" b="1" dirty="0">
                <a:latin typeface="Century" panose="02040604050505020304" pitchFamily="18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7AB6110-D7AC-BC01-6326-1250233F2F57}"/>
                </a:ext>
              </a:extLst>
            </p:cNvPr>
            <p:cNvSpPr txBox="1"/>
            <p:nvPr/>
          </p:nvSpPr>
          <p:spPr>
            <a:xfrm>
              <a:off x="1189264" y="2194308"/>
              <a:ext cx="10850335" cy="3801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ts val="2538"/>
                </a:lnSpc>
              </a:pPr>
              <a:r>
                <a:rPr lang="en-US" sz="1400" b="1" i="0" dirty="0">
                  <a:solidFill>
                    <a:srgbClr val="000000"/>
                  </a:solidFill>
                  <a:effectLst/>
                  <a:latin typeface="Outfit"/>
                </a:rPr>
                <a:t>Nike</a:t>
              </a:r>
              <a:r>
                <a:rPr lang="en-US" sz="1400" b="0" i="0" dirty="0">
                  <a:solidFill>
                    <a:srgbClr val="000000"/>
                  </a:solidFill>
                  <a:effectLst/>
                  <a:latin typeface="Outfit"/>
                </a:rPr>
                <a:t> now achieves over </a:t>
              </a:r>
              <a:r>
                <a:rPr lang="en-US" sz="1400" b="1" i="0" dirty="0">
                  <a:solidFill>
                    <a:srgbClr val="000000"/>
                  </a:solidFill>
                  <a:effectLst/>
                  <a:latin typeface="Outfit"/>
                </a:rPr>
                <a:t>50% of its digital revenue</a:t>
              </a:r>
              <a:r>
                <a:rPr lang="en-US" sz="1400" b="0" i="0" dirty="0">
                  <a:solidFill>
                    <a:srgbClr val="000000"/>
                  </a:solidFill>
                  <a:effectLst/>
                  <a:latin typeface="Outfit"/>
                </a:rPr>
                <a:t> through </a:t>
              </a:r>
              <a:r>
                <a:rPr lang="en-US" sz="1400" b="1" i="0" dirty="0">
                  <a:solidFill>
                    <a:srgbClr val="000000"/>
                  </a:solidFill>
                  <a:effectLst/>
                  <a:latin typeface="Outfit"/>
                </a:rPr>
                <a:t>AI-enhanced experiences</a:t>
              </a:r>
              <a:r>
                <a:rPr lang="en-US" sz="1400" b="0" i="0" dirty="0">
                  <a:solidFill>
                    <a:srgbClr val="000000"/>
                  </a:solidFill>
                  <a:effectLst/>
                  <a:latin typeface="Outfit"/>
                </a:rPr>
                <a:t>, capitalizing on technology for sales growth.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1618847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45FDE-706E-79E6-4DC7-73110E819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CE6A3B-C990-33F9-1452-215891DBD054}"/>
              </a:ext>
            </a:extLst>
          </p:cNvPr>
          <p:cNvSpPr txBox="1"/>
          <p:nvPr/>
        </p:nvSpPr>
        <p:spPr>
          <a:xfrm>
            <a:off x="457199" y="305191"/>
            <a:ext cx="67820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dirty="0">
                <a:solidFill>
                  <a:srgbClr val="000000"/>
                </a:solidFill>
                <a:effectLst/>
                <a:latin typeface="Century" panose="02040604050505020304" pitchFamily="18" charset="0"/>
              </a:rPr>
              <a:t>Challenges in U.S. Apparel Retail</a:t>
            </a:r>
            <a:endParaRPr lang="en-IN" sz="3200" b="1" dirty="0">
              <a:latin typeface="Century" panose="02040604050505020304" pitchFamily="18" charset="0"/>
            </a:endParaRPr>
          </a:p>
        </p:txBody>
      </p:sp>
      <p:sp>
        <p:nvSpPr>
          <p:cNvPr id="4" name="L-Shape 3">
            <a:extLst>
              <a:ext uri="{FF2B5EF4-FFF2-40B4-BE49-F238E27FC236}">
                <a16:creationId xmlns:a16="http://schemas.microsoft.com/office/drawing/2014/main" id="{0DA774B7-1352-9E42-AD9A-4A8C4EC3692A}"/>
              </a:ext>
            </a:extLst>
          </p:cNvPr>
          <p:cNvSpPr/>
          <p:nvPr/>
        </p:nvSpPr>
        <p:spPr>
          <a:xfrm rot="10800000">
            <a:off x="10932000" y="0"/>
            <a:ext cx="1260000" cy="1260000"/>
          </a:xfrm>
          <a:prstGeom prst="corner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691B72-B2F1-E87E-CA00-B752E5D3278B}"/>
              </a:ext>
            </a:extLst>
          </p:cNvPr>
          <p:cNvSpPr txBox="1"/>
          <p:nvPr/>
        </p:nvSpPr>
        <p:spPr>
          <a:xfrm>
            <a:off x="457200" y="828411"/>
            <a:ext cx="7323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D4D4D"/>
                </a:solidFill>
                <a:effectLst/>
                <a:latin typeface="Outfit"/>
              </a:rPr>
              <a:t>Analyzing key issues affecting apparel market performance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39FFF3-950E-4172-9BFB-C6F9001895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250" b="91875" l="6375" r="93813">
                        <a14:foregroundMark x1="25250" y1="44125" x2="17125" y2="45000"/>
                        <a14:foregroundMark x1="17125" y1="45000" x2="13313" y2="72188"/>
                        <a14:foregroundMark x1="13313" y1="72188" x2="19250" y2="62063"/>
                        <a14:foregroundMark x1="19250" y1="62063" x2="22875" y2="74125"/>
                        <a14:foregroundMark x1="22875" y1="74125" x2="23125" y2="66500"/>
                        <a14:foregroundMark x1="23125" y1="66500" x2="9438" y2="89750"/>
                        <a14:foregroundMark x1="9438" y1="89750" x2="6438" y2="81375"/>
                        <a14:foregroundMark x1="6438" y1="81375" x2="10688" y2="75438"/>
                        <a14:foregroundMark x1="10688" y1="75438" x2="16375" y2="82875"/>
                        <a14:foregroundMark x1="16375" y1="82875" x2="26438" y2="74313"/>
                        <a14:foregroundMark x1="26438" y1="74313" x2="29812" y2="66375"/>
                        <a14:foregroundMark x1="29812" y1="66375" x2="26063" y2="88250"/>
                        <a14:foregroundMark x1="26063" y1="88250" x2="38125" y2="87125"/>
                        <a14:foregroundMark x1="38125" y1="87125" x2="46750" y2="87938"/>
                        <a14:foregroundMark x1="46750" y1="87938" x2="33000" y2="90438"/>
                        <a14:foregroundMark x1="33000" y1="90438" x2="64750" y2="88125"/>
                        <a14:foregroundMark x1="64750" y1="88125" x2="72250" y2="89563"/>
                        <a14:foregroundMark x1="72250" y1="89563" x2="71938" y2="68688"/>
                        <a14:foregroundMark x1="71938" y1="68688" x2="77438" y2="78375"/>
                        <a14:foregroundMark x1="77438" y1="78375" x2="71375" y2="58188"/>
                        <a14:foregroundMark x1="71375" y1="58188" x2="77500" y2="62875"/>
                        <a14:foregroundMark x1="77500" y1="62875" x2="77938" y2="49188"/>
                        <a14:foregroundMark x1="77938" y1="49188" x2="74063" y2="41875"/>
                        <a14:foregroundMark x1="74063" y1="41875" x2="81813" y2="44875"/>
                        <a14:foregroundMark x1="81813" y1="44875" x2="87438" y2="56250"/>
                        <a14:foregroundMark x1="87438" y1="56250" x2="90625" y2="82438"/>
                        <a14:foregroundMark x1="90625" y1="82438" x2="90813" y2="74875"/>
                        <a14:foregroundMark x1="90813" y1="74875" x2="91688" y2="86750"/>
                        <a14:foregroundMark x1="91688" y1="86750" x2="84438" y2="92625"/>
                        <a14:foregroundMark x1="84438" y1="92625" x2="80688" y2="86625"/>
                        <a14:foregroundMark x1="80688" y1="86625" x2="81063" y2="67813"/>
                        <a14:foregroundMark x1="81063" y1="67813" x2="84375" y2="60438"/>
                        <a14:foregroundMark x1="84375" y1="60438" x2="83438" y2="72938"/>
                        <a14:foregroundMark x1="83438" y1="72938" x2="61375" y2="42875"/>
                        <a14:foregroundMark x1="61375" y1="42875" x2="56000" y2="66375"/>
                        <a14:foregroundMark x1="56000" y1="66375" x2="63875" y2="57938"/>
                        <a14:foregroundMark x1="63875" y1="57938" x2="59000" y2="65375"/>
                        <a14:foregroundMark x1="59000" y1="65375" x2="56188" y2="58875"/>
                        <a14:foregroundMark x1="56188" y1="58875" x2="32625" y2="51438"/>
                        <a14:foregroundMark x1="32625" y1="51438" x2="34438" y2="76188"/>
                        <a14:foregroundMark x1="34438" y1="76188" x2="35875" y2="66688"/>
                        <a14:foregroundMark x1="35875" y1="66688" x2="32688" y2="82125"/>
                        <a14:foregroundMark x1="32688" y1="82125" x2="44750" y2="57063"/>
                        <a14:foregroundMark x1="44750" y1="57063" x2="37813" y2="66500"/>
                        <a14:foregroundMark x1="37813" y1="66500" x2="46563" y2="68625"/>
                        <a14:foregroundMark x1="46563" y1="68625" x2="42250" y2="89438"/>
                        <a14:foregroundMark x1="42250" y1="89438" x2="48438" y2="65438"/>
                        <a14:foregroundMark x1="48438" y1="65438" x2="50750" y2="73875"/>
                        <a14:foregroundMark x1="50750" y1="73875" x2="59688" y2="61563"/>
                        <a14:foregroundMark x1="59688" y1="61563" x2="52625" y2="73313"/>
                        <a14:foregroundMark x1="52625" y1="73313" x2="62187" y2="71438"/>
                        <a14:foregroundMark x1="62187" y1="71438" x2="68500" y2="62750"/>
                        <a14:foregroundMark x1="68500" y1="62750" x2="67625" y2="86125"/>
                        <a14:foregroundMark x1="67625" y1="86125" x2="67875" y2="62063"/>
                        <a14:foregroundMark x1="67875" y1="62063" x2="58500" y2="74875"/>
                        <a14:foregroundMark x1="58500" y1="74875" x2="55875" y2="82688"/>
                        <a14:foregroundMark x1="55875" y1="82688" x2="55770" y2="90424"/>
                        <a14:foregroundMark x1="53314" y1="90432" x2="47625" y2="87063"/>
                        <a14:foregroundMark x1="47625" y1="87063" x2="62813" y2="82938"/>
                        <a14:foregroundMark x1="62813" y1="82938" x2="49375" y2="79500"/>
                        <a14:foregroundMark x1="24125" y1="56813" x2="25688" y2="59500"/>
                        <a14:foregroundMark x1="27313" y1="57625" x2="26687" y2="59375"/>
                        <a14:foregroundMark x1="25688" y1="56688" x2="21438" y2="50813"/>
                        <a14:foregroundMark x1="21438" y1="50813" x2="26063" y2="56500"/>
                        <a14:foregroundMark x1="26063" y1="56500" x2="21125" y2="55250"/>
                        <a14:foregroundMark x1="6813" y1="75688" x2="4750" y2="82688"/>
                        <a14:foregroundMark x1="4750" y1="82688" x2="6625" y2="89688"/>
                        <a14:foregroundMark x1="6625" y1="89688" x2="7563" y2="82500"/>
                        <a14:foregroundMark x1="7563" y1="82500" x2="6375" y2="82688"/>
                        <a14:foregroundMark x1="92875" y1="87313" x2="93813" y2="80313"/>
                        <a14:foregroundMark x1="93813" y1="80313" x2="93188" y2="83625"/>
                        <a14:foregroundMark x1="27750" y1="58250" x2="25750" y2="65938"/>
                        <a14:foregroundMark x1="25750" y1="65938" x2="28750" y2="60188"/>
                        <a14:foregroundMark x1="59438" y1="9563" x2="49625" y2="6875"/>
                        <a14:foregroundMark x1="49625" y1="6875" x2="40500" y2="9750"/>
                        <a14:foregroundMark x1="40500" y1="9750" x2="54625" y2="10313"/>
                        <a14:foregroundMark x1="54625" y1="10313" x2="45625" y2="8125"/>
                        <a14:foregroundMark x1="45625" y1="8125" x2="54500" y2="9813"/>
                        <a14:foregroundMark x1="54500" y1="9813" x2="48125" y2="8250"/>
                        <a14:backgroundMark x1="77313" y1="40313" x2="72250" y2="33500"/>
                        <a14:backgroundMark x1="72250" y1="33500" x2="75250" y2="37125"/>
                        <a14:backgroundMark x1="27750" y1="38875" x2="27750" y2="38125"/>
                        <a14:backgroundMark x1="61438" y1="91750" x2="27125" y2="91875"/>
                        <a14:backgroundMark x1="66063" y1="91438" x2="62250" y2="914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1285" y="1537785"/>
            <a:ext cx="5769429" cy="576942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B27DA676-FFFB-AFE7-EAB8-109E90EB6BEC}"/>
              </a:ext>
            </a:extLst>
          </p:cNvPr>
          <p:cNvGrpSpPr/>
          <p:nvPr/>
        </p:nvGrpSpPr>
        <p:grpSpPr>
          <a:xfrm>
            <a:off x="457200" y="3030515"/>
            <a:ext cx="4027543" cy="1353191"/>
            <a:chOff x="457200" y="3030515"/>
            <a:chExt cx="4027543" cy="1353191"/>
          </a:xfrm>
        </p:grpSpPr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3051C541-B684-2D88-815B-E8BF00B8A0D2}"/>
                </a:ext>
              </a:extLst>
            </p:cNvPr>
            <p:cNvSpPr/>
            <p:nvPr/>
          </p:nvSpPr>
          <p:spPr>
            <a:xfrm>
              <a:off x="3548743" y="3030515"/>
              <a:ext cx="936000" cy="936000"/>
            </a:xfrm>
            <a:prstGeom prst="flowChartConnector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3200" b="1" dirty="0">
                  <a:latin typeface="Century" panose="02040604050505020304" pitchFamily="18" charset="0"/>
                </a:rPr>
                <a:t>01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A1EFDC2-F420-7E4A-F3AB-80E31DC2399B}"/>
                </a:ext>
              </a:extLst>
            </p:cNvPr>
            <p:cNvGrpSpPr/>
            <p:nvPr/>
          </p:nvGrpSpPr>
          <p:grpSpPr>
            <a:xfrm>
              <a:off x="457200" y="3030515"/>
              <a:ext cx="3056164" cy="1353191"/>
              <a:chOff x="323850" y="3030515"/>
              <a:chExt cx="3056164" cy="1353191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18D1F2C-3CC4-04E5-E530-419BB8689ED8}"/>
                  </a:ext>
                </a:extLst>
              </p:cNvPr>
              <p:cNvSpPr txBox="1"/>
              <p:nvPr/>
            </p:nvSpPr>
            <p:spPr>
              <a:xfrm>
                <a:off x="704850" y="3030515"/>
                <a:ext cx="267516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600" b="1" i="0" dirty="0">
                    <a:solidFill>
                      <a:srgbClr val="000000"/>
                    </a:solidFill>
                    <a:effectLst/>
                    <a:latin typeface="Century" panose="02040604050505020304" pitchFamily="18" charset="0"/>
                  </a:rPr>
                  <a:t>Declining Store Purchases</a:t>
                </a:r>
                <a:endParaRPr lang="en-IN" sz="1600" b="1" dirty="0">
                  <a:latin typeface="Century" panose="02040604050505020304" pitchFamily="18" charset="0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AD312B7-043A-BA57-55DB-F9FDA6F140D9}"/>
                  </a:ext>
                </a:extLst>
              </p:cNvPr>
              <p:cNvSpPr txBox="1"/>
              <p:nvPr/>
            </p:nvSpPr>
            <p:spPr>
              <a:xfrm>
                <a:off x="323850" y="3369069"/>
                <a:ext cx="3056164" cy="10146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lnSpc>
                    <a:spcPts val="2538"/>
                  </a:lnSpc>
                </a:pPr>
                <a:r>
                  <a:rPr lang="en-US" sz="1200" b="1" i="0" dirty="0">
                    <a:solidFill>
                      <a:srgbClr val="000000"/>
                    </a:solidFill>
                    <a:effectLst/>
                    <a:latin typeface="Century" panose="02040604050505020304" pitchFamily="18" charset="0"/>
                  </a:rPr>
                  <a:t>Customer journey complexity</a:t>
                </a:r>
                <a:r>
                  <a:rPr lang="en-US" sz="1200" b="0" i="0" dirty="0">
                    <a:solidFill>
                      <a:srgbClr val="000000"/>
                    </a:solidFill>
                    <a:effectLst/>
                    <a:latin typeface="Century" panose="02040604050505020304" pitchFamily="18" charset="0"/>
                  </a:rPr>
                  <a:t>:</a:t>
                </a:r>
              </a:p>
              <a:p>
                <a:pPr algn="r">
                  <a:lnSpc>
                    <a:spcPts val="2538"/>
                  </a:lnSpc>
                </a:pPr>
                <a:r>
                  <a:rPr lang="en-US" sz="1200" b="0" i="0" dirty="0">
                    <a:solidFill>
                      <a:srgbClr val="000000"/>
                    </a:solidFill>
                    <a:effectLst/>
                    <a:latin typeface="Century" panose="02040604050505020304" pitchFamily="18" charset="0"/>
                  </a:rPr>
                  <a:t>Declining physical store purchases from 45% in 2024 to a projected 41% by 2026.</a:t>
                </a:r>
              </a:p>
            </p:txBody>
          </p:sp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C00A540-4BC2-607D-ED35-6AD9B72A8DF3}"/>
              </a:ext>
            </a:extLst>
          </p:cNvPr>
          <p:cNvGrpSpPr/>
          <p:nvPr/>
        </p:nvGrpSpPr>
        <p:grpSpPr>
          <a:xfrm>
            <a:off x="7239257" y="1970314"/>
            <a:ext cx="4805893" cy="1080000"/>
            <a:chOff x="7239257" y="1970314"/>
            <a:chExt cx="4805893" cy="1080000"/>
          </a:xfrm>
        </p:grpSpPr>
        <p:sp>
          <p:nvSpPr>
            <p:cNvPr id="15" name="Flowchart: Connector 14">
              <a:extLst>
                <a:ext uri="{FF2B5EF4-FFF2-40B4-BE49-F238E27FC236}">
                  <a16:creationId xmlns:a16="http://schemas.microsoft.com/office/drawing/2014/main" id="{8B545265-98FA-B56F-8E2C-3B6915BD3A53}"/>
                </a:ext>
              </a:extLst>
            </p:cNvPr>
            <p:cNvSpPr/>
            <p:nvPr/>
          </p:nvSpPr>
          <p:spPr>
            <a:xfrm>
              <a:off x="7239257" y="1970314"/>
              <a:ext cx="1080000" cy="1080000"/>
            </a:xfrm>
            <a:prstGeom prst="flowChartConnector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3200" b="1" dirty="0">
                  <a:latin typeface="Century" panose="02040604050505020304" pitchFamily="18" charset="0"/>
                </a:rPr>
                <a:t>02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05A05BF-9C72-1317-9077-D2F27303C399}"/>
                </a:ext>
              </a:extLst>
            </p:cNvPr>
            <p:cNvSpPr txBox="1"/>
            <p:nvPr/>
          </p:nvSpPr>
          <p:spPr>
            <a:xfrm>
              <a:off x="8319257" y="1970314"/>
              <a:ext cx="237036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i="0" dirty="0">
                  <a:solidFill>
                    <a:srgbClr val="000000"/>
                  </a:solidFill>
                  <a:effectLst/>
                  <a:latin typeface="Century" panose="02040604050505020304" pitchFamily="18" charset="0"/>
                </a:rPr>
                <a:t>Inefficient Processes</a:t>
              </a:r>
              <a:endParaRPr lang="en-IN" b="1" dirty="0">
                <a:latin typeface="Century" panose="02040604050505020304" pitchFamily="18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7258132-14E7-1715-C147-78EE3B1F13C6}"/>
                </a:ext>
              </a:extLst>
            </p:cNvPr>
            <p:cNvSpPr txBox="1"/>
            <p:nvPr/>
          </p:nvSpPr>
          <p:spPr>
            <a:xfrm>
              <a:off x="8352471" y="2339646"/>
              <a:ext cx="3692679" cy="6865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ts val="2538"/>
                </a:lnSpc>
              </a:pPr>
              <a:r>
                <a:rPr lang="en-US" sz="1200" b="1" i="0" dirty="0">
                  <a:solidFill>
                    <a:srgbClr val="000000"/>
                  </a:solidFill>
                  <a:effectLst/>
                  <a:latin typeface="Century" panose="02040604050505020304" pitchFamily="18" charset="0"/>
                </a:rPr>
                <a:t>Operational inefficiencies</a:t>
              </a:r>
              <a:r>
                <a:rPr lang="en-US" sz="1200" b="0" i="0" dirty="0">
                  <a:solidFill>
                    <a:srgbClr val="000000"/>
                  </a:solidFill>
                  <a:effectLst/>
                  <a:latin typeface="Century" panose="02040604050505020304" pitchFamily="18" charset="0"/>
                </a:rPr>
                <a:t>: 81% of retailers report that inefficient processes drain productivity.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10958BF-2C70-7D08-5C4F-E0ADF11E8A2C}"/>
              </a:ext>
            </a:extLst>
          </p:cNvPr>
          <p:cNvGrpSpPr/>
          <p:nvPr/>
        </p:nvGrpSpPr>
        <p:grpSpPr>
          <a:xfrm>
            <a:off x="7946570" y="4454098"/>
            <a:ext cx="4098581" cy="1376467"/>
            <a:chOff x="7946570" y="4454098"/>
            <a:chExt cx="4098581" cy="1376467"/>
          </a:xfrm>
        </p:grpSpPr>
        <p:sp>
          <p:nvSpPr>
            <p:cNvPr id="27" name="Flowchart: Connector 26">
              <a:extLst>
                <a:ext uri="{FF2B5EF4-FFF2-40B4-BE49-F238E27FC236}">
                  <a16:creationId xmlns:a16="http://schemas.microsoft.com/office/drawing/2014/main" id="{B49C9E03-25FF-1DA1-564C-43B795C3372F}"/>
                </a:ext>
              </a:extLst>
            </p:cNvPr>
            <p:cNvSpPr/>
            <p:nvPr/>
          </p:nvSpPr>
          <p:spPr>
            <a:xfrm>
              <a:off x="7946570" y="4615542"/>
              <a:ext cx="720000" cy="720000"/>
            </a:xfrm>
            <a:prstGeom prst="flowChartConnector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000" b="1" dirty="0">
                  <a:latin typeface="Century" panose="02040604050505020304" pitchFamily="18" charset="0"/>
                </a:rPr>
                <a:t>03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C22EC83-1FE6-35B6-73FD-BA3CA6BFDBD3}"/>
                </a:ext>
              </a:extLst>
            </p:cNvPr>
            <p:cNvSpPr txBox="1"/>
            <p:nvPr/>
          </p:nvSpPr>
          <p:spPr>
            <a:xfrm>
              <a:off x="8666570" y="4454098"/>
              <a:ext cx="237036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i="0" dirty="0">
                  <a:solidFill>
                    <a:srgbClr val="000000"/>
                  </a:solidFill>
                  <a:effectLst/>
                  <a:latin typeface="Century" panose="02040604050505020304" pitchFamily="18" charset="0"/>
                </a:rPr>
                <a:t>High Return Rates</a:t>
              </a:r>
              <a:endParaRPr lang="en-IN" b="1" dirty="0">
                <a:latin typeface="Century" panose="02040604050505020304" pitchFamily="18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AF41464-A9B0-4F73-2C84-A0335017FD22}"/>
                </a:ext>
              </a:extLst>
            </p:cNvPr>
            <p:cNvSpPr txBox="1"/>
            <p:nvPr/>
          </p:nvSpPr>
          <p:spPr>
            <a:xfrm>
              <a:off x="8699785" y="4823430"/>
              <a:ext cx="3345366" cy="10071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ts val="2538"/>
                </a:lnSpc>
              </a:pPr>
              <a:r>
                <a:rPr lang="en-US" sz="1200" b="1" i="0" dirty="0">
                  <a:solidFill>
                    <a:srgbClr val="000000"/>
                  </a:solidFill>
                  <a:effectLst/>
                  <a:latin typeface="Century" panose="02040604050505020304" pitchFamily="18" charset="0"/>
                </a:rPr>
                <a:t>Rising acquisition costs</a:t>
              </a:r>
              <a:r>
                <a:rPr lang="en-US" sz="1200" b="0" i="0" dirty="0">
                  <a:solidFill>
                    <a:srgbClr val="000000"/>
                  </a:solidFill>
                  <a:effectLst/>
                  <a:latin typeface="Century" panose="02040604050505020304" pitchFamily="18" charset="0"/>
                </a:rPr>
                <a:t>: High return rates particularly for online purchases impact overall profitability.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4696191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5AA1C-BC00-2E95-8835-71272F128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78C1B6-1966-FA43-3E5F-BF1F75B9F6BA}"/>
              </a:ext>
            </a:extLst>
          </p:cNvPr>
          <p:cNvSpPr txBox="1"/>
          <p:nvPr/>
        </p:nvSpPr>
        <p:spPr>
          <a:xfrm>
            <a:off x="457200" y="305191"/>
            <a:ext cx="6324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i="0" dirty="0">
                <a:solidFill>
                  <a:srgbClr val="000000"/>
                </a:solidFill>
                <a:effectLst/>
                <a:latin typeface="Century" panose="02040604050505020304" pitchFamily="18" charset="0"/>
              </a:rPr>
              <a:t>AI Agents Transforming Retail</a:t>
            </a:r>
            <a:endParaRPr lang="en-IN" sz="3200" b="1" dirty="0">
              <a:latin typeface="Century" panose="020406040505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5CAA7D-A594-D818-BD1D-F641B0705E02}"/>
              </a:ext>
            </a:extLst>
          </p:cNvPr>
          <p:cNvSpPr txBox="1"/>
          <p:nvPr/>
        </p:nvSpPr>
        <p:spPr>
          <a:xfrm>
            <a:off x="457200" y="828411"/>
            <a:ext cx="7323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D4D4D"/>
                </a:solidFill>
                <a:effectLst/>
                <a:latin typeface="Outfit"/>
              </a:rPr>
              <a:t>Exploring the impact of AI agents on apparel retail services</a:t>
            </a:r>
            <a:endParaRPr lang="en-IN" dirty="0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6D26B459-F0E4-BA63-72E1-A58FECFD21F7}"/>
              </a:ext>
            </a:extLst>
          </p:cNvPr>
          <p:cNvSpPr/>
          <p:nvPr/>
        </p:nvSpPr>
        <p:spPr>
          <a:xfrm rot="652323">
            <a:off x="3832818" y="-4753284"/>
            <a:ext cx="13107813" cy="13456544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5D8BFBB-CD00-EDF8-C08B-BAECD3FA7790}"/>
              </a:ext>
            </a:extLst>
          </p:cNvPr>
          <p:cNvGrpSpPr/>
          <p:nvPr/>
        </p:nvGrpSpPr>
        <p:grpSpPr>
          <a:xfrm>
            <a:off x="3004542" y="1880816"/>
            <a:ext cx="9289058" cy="686535"/>
            <a:chOff x="3004542" y="1880816"/>
            <a:chExt cx="9289058" cy="686535"/>
          </a:xfrm>
        </p:grpSpPr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C6A0227D-3533-04FB-7633-B946A4AA41E5}"/>
                </a:ext>
              </a:extLst>
            </p:cNvPr>
            <p:cNvSpPr/>
            <p:nvPr/>
          </p:nvSpPr>
          <p:spPr>
            <a:xfrm rot="2320138">
              <a:off x="6438793" y="2131932"/>
              <a:ext cx="180000" cy="180000"/>
            </a:xfrm>
            <a:prstGeom prst="flowChartConnector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922F108-47D7-AAA7-4770-010E8FF1C81F}"/>
                </a:ext>
              </a:extLst>
            </p:cNvPr>
            <p:cNvSpPr txBox="1"/>
            <p:nvPr/>
          </p:nvSpPr>
          <p:spPr>
            <a:xfrm>
              <a:off x="3004542" y="2057823"/>
              <a:ext cx="352425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600" b="1" i="0" dirty="0">
                  <a:solidFill>
                    <a:srgbClr val="000000"/>
                  </a:solidFill>
                  <a:effectLst/>
                  <a:latin typeface="Century" panose="02040604050505020304" pitchFamily="18" charset="0"/>
                </a:rPr>
                <a:t>Customer Agents</a:t>
              </a:r>
              <a:r>
                <a:rPr lang="en-IN" sz="1600" b="0" i="0" dirty="0">
                  <a:solidFill>
                    <a:srgbClr val="000000"/>
                  </a:solidFill>
                  <a:effectLst/>
                  <a:latin typeface="Century" panose="02040604050505020304" pitchFamily="18" charset="0"/>
                </a:rPr>
                <a:t>: 24/7 Support</a:t>
              </a:r>
              <a:endParaRPr lang="en-IN" sz="1600" dirty="0">
                <a:latin typeface="Century" panose="02040604050505020304" pitchFamily="18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56155DC-9792-A84D-0F8B-9D11D21AE1DF}"/>
                </a:ext>
              </a:extLst>
            </p:cNvPr>
            <p:cNvSpPr txBox="1"/>
            <p:nvPr/>
          </p:nvSpPr>
          <p:spPr>
            <a:xfrm>
              <a:off x="6933466" y="1880816"/>
              <a:ext cx="5360134" cy="6865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ts val="2538"/>
                </a:lnSpc>
              </a:pPr>
              <a:r>
                <a:rPr lang="en-US" sz="1200" b="0" i="0" dirty="0">
                  <a:solidFill>
                    <a:srgbClr val="FFFFFF"/>
                  </a:solidFill>
                  <a:effectLst/>
                  <a:latin typeface="Century" panose="02040604050505020304" pitchFamily="18" charset="0"/>
                </a:rPr>
                <a:t>AI-driven customer agents provide round-the-clock service, addressing inquiries and facilitating </a:t>
              </a:r>
              <a:r>
                <a:rPr lang="en-US" sz="1200" b="1" i="0" dirty="0">
                  <a:solidFill>
                    <a:srgbClr val="FFFFFF"/>
                  </a:solidFill>
                  <a:effectLst/>
                  <a:latin typeface="Century" panose="02040604050505020304" pitchFamily="18" charset="0"/>
                </a:rPr>
                <a:t>product discovery</a:t>
              </a:r>
              <a:r>
                <a:rPr lang="en-US" sz="1200" b="0" i="0" dirty="0">
                  <a:solidFill>
                    <a:srgbClr val="FFFFFF"/>
                  </a:solidFill>
                  <a:effectLst/>
                  <a:latin typeface="Century" panose="02040604050505020304" pitchFamily="18" charset="0"/>
                </a:rPr>
                <a:t> for customers at any time.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AD9BF15-C61A-877E-83AD-A4507A4CE73B}"/>
              </a:ext>
            </a:extLst>
          </p:cNvPr>
          <p:cNvGrpSpPr/>
          <p:nvPr/>
        </p:nvGrpSpPr>
        <p:grpSpPr>
          <a:xfrm>
            <a:off x="1383306" y="3228439"/>
            <a:ext cx="10287994" cy="686535"/>
            <a:chOff x="1319806" y="3338738"/>
            <a:chExt cx="10287994" cy="686535"/>
          </a:xfrm>
        </p:grpSpPr>
        <p:sp>
          <p:nvSpPr>
            <p:cNvPr id="20" name="Flowchart: Connector 19">
              <a:extLst>
                <a:ext uri="{FF2B5EF4-FFF2-40B4-BE49-F238E27FC236}">
                  <a16:creationId xmlns:a16="http://schemas.microsoft.com/office/drawing/2014/main" id="{274FFF4F-3050-EDAE-8A28-F7B53980811D}"/>
                </a:ext>
              </a:extLst>
            </p:cNvPr>
            <p:cNvSpPr/>
            <p:nvPr/>
          </p:nvSpPr>
          <p:spPr>
            <a:xfrm rot="2320138">
              <a:off x="5346593" y="3586837"/>
              <a:ext cx="180000" cy="180000"/>
            </a:xfrm>
            <a:prstGeom prst="flowChartConnector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2A97297-B18A-6661-C3AB-B6FF1A291C21}"/>
                </a:ext>
              </a:extLst>
            </p:cNvPr>
            <p:cNvSpPr txBox="1"/>
            <p:nvPr/>
          </p:nvSpPr>
          <p:spPr>
            <a:xfrm>
              <a:off x="1319806" y="3512728"/>
              <a:ext cx="411678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600" b="1" i="0" dirty="0">
                  <a:solidFill>
                    <a:srgbClr val="000000"/>
                  </a:solidFill>
                  <a:effectLst/>
                  <a:latin typeface="Century" panose="02040604050505020304" pitchFamily="18" charset="0"/>
                </a:rPr>
                <a:t>Voice Agents</a:t>
              </a:r>
              <a:r>
                <a:rPr lang="en-IN" sz="1600" b="0" i="0" dirty="0">
                  <a:solidFill>
                    <a:srgbClr val="000000"/>
                  </a:solidFill>
                  <a:effectLst/>
                  <a:latin typeface="Century" panose="02040604050505020304" pitchFamily="18" charset="0"/>
                </a:rPr>
                <a:t>: Hands-Free Commerce</a:t>
              </a:r>
              <a:endParaRPr lang="en-IN" sz="1600" dirty="0">
                <a:latin typeface="Century" panose="02040604050505020304" pitchFamily="18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1FDE926-0689-D70F-F9C6-BD2245028C22}"/>
                </a:ext>
              </a:extLst>
            </p:cNvPr>
            <p:cNvSpPr txBox="1"/>
            <p:nvPr/>
          </p:nvSpPr>
          <p:spPr>
            <a:xfrm>
              <a:off x="5788025" y="3338738"/>
              <a:ext cx="5819775" cy="6865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ts val="2538"/>
                </a:lnSpc>
              </a:pPr>
              <a:r>
                <a:rPr lang="en-US" sz="1200" b="0" i="0" dirty="0">
                  <a:solidFill>
                    <a:srgbClr val="FFFFFF"/>
                  </a:solidFill>
                  <a:effectLst/>
                  <a:latin typeface="Century" panose="02040604050505020304" pitchFamily="18" charset="0"/>
                </a:rPr>
                <a:t>Voice-enabled AI agents enable seamless </a:t>
              </a:r>
              <a:r>
                <a:rPr lang="en-US" sz="1200" b="1" i="0" dirty="0">
                  <a:solidFill>
                    <a:srgbClr val="FFFFFF"/>
                  </a:solidFill>
                  <a:effectLst/>
                  <a:latin typeface="Century" panose="02040604050505020304" pitchFamily="18" charset="0"/>
                </a:rPr>
                <a:t>hands-free commerce</a:t>
              </a:r>
              <a:r>
                <a:rPr lang="en-US" sz="1200" b="0" i="0" dirty="0">
                  <a:solidFill>
                    <a:srgbClr val="FFFFFF"/>
                  </a:solidFill>
                  <a:effectLst/>
                  <a:latin typeface="Century" panose="02040604050505020304" pitchFamily="18" charset="0"/>
                </a:rPr>
                <a:t> through smart speakers, enhancing the shopping experience for users.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F3C8263-41BB-7BDA-4DE2-A0EBDE9BDAEF}"/>
              </a:ext>
            </a:extLst>
          </p:cNvPr>
          <p:cNvGrpSpPr/>
          <p:nvPr/>
        </p:nvGrpSpPr>
        <p:grpSpPr>
          <a:xfrm>
            <a:off x="229593" y="4765172"/>
            <a:ext cx="11543307" cy="694036"/>
            <a:chOff x="1319806" y="3338738"/>
            <a:chExt cx="11543307" cy="694036"/>
          </a:xfrm>
        </p:grpSpPr>
        <p:sp>
          <p:nvSpPr>
            <p:cNvPr id="31" name="Flowchart: Connector 30">
              <a:extLst>
                <a:ext uri="{FF2B5EF4-FFF2-40B4-BE49-F238E27FC236}">
                  <a16:creationId xmlns:a16="http://schemas.microsoft.com/office/drawing/2014/main" id="{5A0BB0F3-2A93-1BF4-51D7-A78935AD3050}"/>
                </a:ext>
              </a:extLst>
            </p:cNvPr>
            <p:cNvSpPr/>
            <p:nvPr/>
          </p:nvSpPr>
          <p:spPr>
            <a:xfrm rot="2320138">
              <a:off x="5346593" y="3592006"/>
              <a:ext cx="180000" cy="180000"/>
            </a:xfrm>
            <a:prstGeom prst="flowChartConnector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1CA3B48-75C1-8933-9145-6AB2679328B7}"/>
                </a:ext>
              </a:extLst>
            </p:cNvPr>
            <p:cNvSpPr txBox="1"/>
            <p:nvPr/>
          </p:nvSpPr>
          <p:spPr>
            <a:xfrm>
              <a:off x="1319806" y="3512729"/>
              <a:ext cx="411678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600" b="1" i="0" dirty="0">
                  <a:solidFill>
                    <a:srgbClr val="000000"/>
                  </a:solidFill>
                  <a:effectLst/>
                  <a:latin typeface="Century" panose="02040604050505020304" pitchFamily="18" charset="0"/>
                </a:rPr>
                <a:t>Email Agents</a:t>
              </a:r>
              <a:r>
                <a:rPr lang="en-IN" sz="1600" b="0" i="0" dirty="0">
                  <a:solidFill>
                    <a:srgbClr val="000000"/>
                  </a:solidFill>
                  <a:effectLst/>
                  <a:latin typeface="Century" panose="02040604050505020304" pitchFamily="18" charset="0"/>
                </a:rPr>
                <a:t>: Automated Marketing</a:t>
              </a:r>
              <a:endParaRPr lang="en-IN" sz="1600" dirty="0">
                <a:latin typeface="Century" panose="02040604050505020304" pitchFamily="18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12C58A8-B852-E5E6-D1BE-97E1DE4B22A1}"/>
                </a:ext>
              </a:extLst>
            </p:cNvPr>
            <p:cNvSpPr txBox="1"/>
            <p:nvPr/>
          </p:nvSpPr>
          <p:spPr>
            <a:xfrm>
              <a:off x="5788025" y="3338738"/>
              <a:ext cx="7075088" cy="6940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ts val="2538"/>
                </a:lnSpc>
              </a:pPr>
              <a:r>
                <a:rPr lang="en-US" sz="1200" b="0" i="0" dirty="0">
                  <a:solidFill>
                    <a:srgbClr val="FFFFFF"/>
                  </a:solidFill>
                  <a:effectLst/>
                  <a:latin typeface="Century" panose="02040604050505020304" pitchFamily="18" charset="0"/>
                </a:rPr>
                <a:t>Email agents automate lifecycle marketing efforts, including </a:t>
              </a:r>
              <a:r>
                <a:rPr lang="en-US" sz="1200" b="1" i="0" dirty="0">
                  <a:solidFill>
                    <a:srgbClr val="FFFFFF"/>
                  </a:solidFill>
                  <a:effectLst/>
                  <a:latin typeface="Century" panose="02040604050505020304" pitchFamily="18" charset="0"/>
                </a:rPr>
                <a:t>abandoned cart recovery</a:t>
              </a:r>
              <a:r>
                <a:rPr lang="en-US" sz="1200" b="0" i="0" dirty="0">
                  <a:solidFill>
                    <a:srgbClr val="FFFFFF"/>
                  </a:solidFill>
                  <a:effectLst/>
                  <a:latin typeface="Century" panose="02040604050505020304" pitchFamily="18" charset="0"/>
                </a:rPr>
                <a:t>, ensuring higher conversion rates and customer engagement.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90194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prism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04D8F-5E39-1898-2D9E-7D2260822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Process 1">
            <a:extLst>
              <a:ext uri="{FF2B5EF4-FFF2-40B4-BE49-F238E27FC236}">
                <a16:creationId xmlns:a16="http://schemas.microsoft.com/office/drawing/2014/main" id="{BF07BB12-235B-7819-8789-E6F4E74F9567}"/>
              </a:ext>
            </a:extLst>
          </p:cNvPr>
          <p:cNvSpPr/>
          <p:nvPr/>
        </p:nvSpPr>
        <p:spPr>
          <a:xfrm>
            <a:off x="0" y="0"/>
            <a:ext cx="5040000" cy="6858000"/>
          </a:xfrm>
          <a:prstGeom prst="flowChartProcess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459C5C-B223-0A6A-BE54-6BA0FBDEE94A}"/>
              </a:ext>
            </a:extLst>
          </p:cNvPr>
          <p:cNvSpPr txBox="1"/>
          <p:nvPr/>
        </p:nvSpPr>
        <p:spPr>
          <a:xfrm>
            <a:off x="457200" y="305190"/>
            <a:ext cx="40259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i="0" dirty="0">
                <a:solidFill>
                  <a:srgbClr val="FFFFFF"/>
                </a:solidFill>
                <a:effectLst/>
                <a:latin typeface="Century" panose="02040604050505020304" pitchFamily="18" charset="0"/>
              </a:rPr>
              <a:t>Growth of Voice Commerce</a:t>
            </a:r>
            <a:endParaRPr lang="en-IN" sz="3200" b="1" dirty="0">
              <a:latin typeface="Century" panose="020406040505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DDF593-2111-598A-E543-C361149DBDDD}"/>
              </a:ext>
            </a:extLst>
          </p:cNvPr>
          <p:cNvSpPr txBox="1"/>
          <p:nvPr/>
        </p:nvSpPr>
        <p:spPr>
          <a:xfrm>
            <a:off x="457200" y="1382408"/>
            <a:ext cx="4267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FFFFF"/>
                </a:solidFill>
                <a:effectLst/>
                <a:latin typeface="Outfit"/>
              </a:rPr>
              <a:t>Exploring the rise of voice shopping in U.S. apparel retail</a:t>
            </a:r>
            <a:endParaRPr lang="en-IN" dirty="0"/>
          </a:p>
        </p:txBody>
      </p:sp>
      <p:sp>
        <p:nvSpPr>
          <p:cNvPr id="4" name="L-Shape 3">
            <a:extLst>
              <a:ext uri="{FF2B5EF4-FFF2-40B4-BE49-F238E27FC236}">
                <a16:creationId xmlns:a16="http://schemas.microsoft.com/office/drawing/2014/main" id="{96359ED3-84D2-1BD4-9645-6B89F6D49047}"/>
              </a:ext>
            </a:extLst>
          </p:cNvPr>
          <p:cNvSpPr/>
          <p:nvPr/>
        </p:nvSpPr>
        <p:spPr>
          <a:xfrm rot="16200000">
            <a:off x="4125600" y="5943600"/>
            <a:ext cx="914400" cy="914400"/>
          </a:xfrm>
          <a:prstGeom prst="corne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A52C53C-6926-03A0-D521-18A8B8DEC521}"/>
              </a:ext>
            </a:extLst>
          </p:cNvPr>
          <p:cNvGrpSpPr/>
          <p:nvPr/>
        </p:nvGrpSpPr>
        <p:grpSpPr>
          <a:xfrm>
            <a:off x="5651500" y="976008"/>
            <a:ext cx="6438900" cy="1168964"/>
            <a:chOff x="5651500" y="976008"/>
            <a:chExt cx="6438900" cy="1168964"/>
          </a:xfrm>
        </p:grpSpPr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85FC5232-4130-CC91-31D4-1968FFA87E5E}"/>
                </a:ext>
              </a:extLst>
            </p:cNvPr>
            <p:cNvSpPr/>
            <p:nvPr/>
          </p:nvSpPr>
          <p:spPr>
            <a:xfrm>
              <a:off x="5651500" y="976008"/>
              <a:ext cx="540000" cy="540000"/>
            </a:xfrm>
            <a:prstGeom prst="flowChartConnector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b="1" dirty="0"/>
                <a:t>01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079FA90-8CEB-4A50-6F09-B185D3F92636}"/>
                </a:ext>
              </a:extLst>
            </p:cNvPr>
            <p:cNvSpPr txBox="1"/>
            <p:nvPr/>
          </p:nvSpPr>
          <p:spPr>
            <a:xfrm>
              <a:off x="6375400" y="1061342"/>
              <a:ext cx="37211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i="0" dirty="0">
                  <a:solidFill>
                    <a:srgbClr val="000000"/>
                  </a:solidFill>
                  <a:effectLst/>
                  <a:latin typeface="Century" panose="02040604050505020304" pitchFamily="18" charset="0"/>
                </a:rPr>
                <a:t>Voice commerce projected growth</a:t>
              </a:r>
              <a:endParaRPr lang="en-IN" b="1" dirty="0">
                <a:latin typeface="Century" panose="02040604050505020304" pitchFamily="18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C2EB9FA-7FB9-1276-3788-A07580CA8ABE}"/>
                </a:ext>
              </a:extLst>
            </p:cNvPr>
            <p:cNvSpPr txBox="1"/>
            <p:nvPr/>
          </p:nvSpPr>
          <p:spPr>
            <a:xfrm>
              <a:off x="6375400" y="1430674"/>
              <a:ext cx="5715000" cy="7142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ts val="2538"/>
                </a:lnSpc>
              </a:pPr>
              <a:r>
                <a:rPr lang="en-US" sz="1200" b="0" i="0" dirty="0">
                  <a:solidFill>
                    <a:srgbClr val="000000"/>
                  </a:solidFill>
                  <a:effectLst/>
                  <a:latin typeface="Outfit"/>
                </a:rPr>
                <a:t>Voice commerce is expected to reach </a:t>
              </a:r>
              <a:r>
                <a:rPr lang="en-US" sz="1200" b="1" i="0" dirty="0">
                  <a:solidFill>
                    <a:srgbClr val="000000"/>
                  </a:solidFill>
                  <a:effectLst/>
                  <a:latin typeface="Outfit"/>
                </a:rPr>
                <a:t>$40 billion</a:t>
              </a:r>
              <a:r>
                <a:rPr lang="en-US" sz="1200" b="0" i="0" dirty="0">
                  <a:solidFill>
                    <a:srgbClr val="000000"/>
                  </a:solidFill>
                  <a:effectLst/>
                  <a:latin typeface="Outfit"/>
                </a:rPr>
                <a:t> by </a:t>
              </a:r>
              <a:r>
                <a:rPr lang="en-US" sz="1200" b="1" i="0" dirty="0">
                  <a:solidFill>
                    <a:srgbClr val="000000"/>
                  </a:solidFill>
                  <a:effectLst/>
                  <a:latin typeface="Outfit"/>
                </a:rPr>
                <a:t>2024</a:t>
              </a:r>
              <a:r>
                <a:rPr lang="en-US" sz="1200" b="0" i="0" dirty="0">
                  <a:solidFill>
                    <a:srgbClr val="000000"/>
                  </a:solidFill>
                  <a:effectLst/>
                  <a:latin typeface="Outfit"/>
                </a:rPr>
                <a:t>, indicating a significant market expansion.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8EBBCEB-CF88-3B0A-6E36-C4E3454FB222}"/>
              </a:ext>
            </a:extLst>
          </p:cNvPr>
          <p:cNvGrpSpPr/>
          <p:nvPr/>
        </p:nvGrpSpPr>
        <p:grpSpPr>
          <a:xfrm>
            <a:off x="5651500" y="2260036"/>
            <a:ext cx="6438900" cy="1168964"/>
            <a:chOff x="5651500" y="976008"/>
            <a:chExt cx="6438900" cy="1168964"/>
          </a:xfrm>
        </p:grpSpPr>
        <p:sp>
          <p:nvSpPr>
            <p:cNvPr id="17" name="Flowchart: Connector 16">
              <a:extLst>
                <a:ext uri="{FF2B5EF4-FFF2-40B4-BE49-F238E27FC236}">
                  <a16:creationId xmlns:a16="http://schemas.microsoft.com/office/drawing/2014/main" id="{9F918684-1082-EFFE-A2A7-8A13BD81616F}"/>
                </a:ext>
              </a:extLst>
            </p:cNvPr>
            <p:cNvSpPr/>
            <p:nvPr/>
          </p:nvSpPr>
          <p:spPr>
            <a:xfrm>
              <a:off x="5651500" y="976008"/>
              <a:ext cx="540000" cy="540000"/>
            </a:xfrm>
            <a:prstGeom prst="flowChartConnector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b="1" dirty="0"/>
                <a:t>02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B705760-E631-EC19-7392-28CFA14BE6D3}"/>
                </a:ext>
              </a:extLst>
            </p:cNvPr>
            <p:cNvSpPr txBox="1"/>
            <p:nvPr/>
          </p:nvSpPr>
          <p:spPr>
            <a:xfrm>
              <a:off x="6375400" y="1061342"/>
              <a:ext cx="37211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i="0" dirty="0">
                  <a:solidFill>
                    <a:srgbClr val="000000"/>
                  </a:solidFill>
                  <a:effectLst/>
                  <a:latin typeface="Century" panose="02040604050505020304" pitchFamily="18" charset="0"/>
                </a:rPr>
                <a:t>Smart speaker adoption rate</a:t>
              </a:r>
              <a:endParaRPr lang="en-IN" b="1" dirty="0">
                <a:latin typeface="Century" panose="02040604050505020304" pitchFamily="18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94445A1-6F47-7C40-A3DC-74D32ABCE7D0}"/>
                </a:ext>
              </a:extLst>
            </p:cNvPr>
            <p:cNvSpPr txBox="1"/>
            <p:nvPr/>
          </p:nvSpPr>
          <p:spPr>
            <a:xfrm>
              <a:off x="6375400" y="1430674"/>
              <a:ext cx="5715000" cy="7142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ts val="2538"/>
                </a:lnSpc>
              </a:pPr>
              <a:r>
                <a:rPr lang="en-US" sz="1200" b="0" i="0" dirty="0">
                  <a:solidFill>
                    <a:srgbClr val="000000"/>
                  </a:solidFill>
                  <a:effectLst/>
                  <a:latin typeface="Outfit"/>
                </a:rPr>
                <a:t>By </a:t>
              </a:r>
              <a:r>
                <a:rPr lang="en-US" sz="1200" b="1" i="0" dirty="0">
                  <a:solidFill>
                    <a:srgbClr val="000000"/>
                  </a:solidFill>
                  <a:effectLst/>
                  <a:latin typeface="Outfit"/>
                </a:rPr>
                <a:t>2025</a:t>
              </a:r>
              <a:r>
                <a:rPr lang="en-US" sz="1200" b="0" i="0" dirty="0">
                  <a:solidFill>
                    <a:srgbClr val="000000"/>
                  </a:solidFill>
                  <a:effectLst/>
                  <a:latin typeface="Outfit"/>
                </a:rPr>
                <a:t>, it is anticipated that </a:t>
              </a:r>
              <a:r>
                <a:rPr lang="en-US" sz="1200" b="1" i="0" dirty="0">
                  <a:solidFill>
                    <a:srgbClr val="000000"/>
                  </a:solidFill>
                  <a:effectLst/>
                  <a:latin typeface="Outfit"/>
                </a:rPr>
                <a:t>75%</a:t>
              </a:r>
              <a:r>
                <a:rPr lang="en-US" sz="1200" b="0" i="0" dirty="0">
                  <a:solidFill>
                    <a:srgbClr val="000000"/>
                  </a:solidFill>
                  <a:effectLst/>
                  <a:latin typeface="Outfit"/>
                </a:rPr>
                <a:t> of U.S. households will own smart speakers, enhancing voice shopping capabilities.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79A28B1-790E-60DC-BC6D-0B442613CAE2}"/>
              </a:ext>
            </a:extLst>
          </p:cNvPr>
          <p:cNvGrpSpPr/>
          <p:nvPr/>
        </p:nvGrpSpPr>
        <p:grpSpPr>
          <a:xfrm>
            <a:off x="5651500" y="3544064"/>
            <a:ext cx="6438900" cy="1168964"/>
            <a:chOff x="5651500" y="976008"/>
            <a:chExt cx="6438900" cy="1168964"/>
          </a:xfrm>
        </p:grpSpPr>
        <p:sp>
          <p:nvSpPr>
            <p:cNvPr id="23" name="Flowchart: Connector 22">
              <a:extLst>
                <a:ext uri="{FF2B5EF4-FFF2-40B4-BE49-F238E27FC236}">
                  <a16:creationId xmlns:a16="http://schemas.microsoft.com/office/drawing/2014/main" id="{32821A44-AC2F-61E2-E89B-2E365BE45F5B}"/>
                </a:ext>
              </a:extLst>
            </p:cNvPr>
            <p:cNvSpPr/>
            <p:nvPr/>
          </p:nvSpPr>
          <p:spPr>
            <a:xfrm>
              <a:off x="5651500" y="976008"/>
              <a:ext cx="540000" cy="540000"/>
            </a:xfrm>
            <a:prstGeom prst="flowChartConnector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b="1" dirty="0"/>
                <a:t>03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38F46E6-FDEF-1E78-1241-C396EC98655B}"/>
                </a:ext>
              </a:extLst>
            </p:cNvPr>
            <p:cNvSpPr txBox="1"/>
            <p:nvPr/>
          </p:nvSpPr>
          <p:spPr>
            <a:xfrm>
              <a:off x="6375400" y="1061342"/>
              <a:ext cx="37211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i="0" dirty="0">
                  <a:solidFill>
                    <a:srgbClr val="000000"/>
                  </a:solidFill>
                  <a:effectLst/>
                  <a:latin typeface="Century" panose="02040604050505020304" pitchFamily="18" charset="0"/>
                </a:rPr>
                <a:t>Impact on apparel purchases</a:t>
              </a:r>
              <a:endParaRPr lang="en-IN" b="1" dirty="0">
                <a:latin typeface="Century" panose="02040604050505020304" pitchFamily="18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A80C0B4-1712-C314-D16C-92D3C4615075}"/>
                </a:ext>
              </a:extLst>
            </p:cNvPr>
            <p:cNvSpPr txBox="1"/>
            <p:nvPr/>
          </p:nvSpPr>
          <p:spPr>
            <a:xfrm>
              <a:off x="6375400" y="1430674"/>
              <a:ext cx="5715000" cy="7142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ts val="2538"/>
                </a:lnSpc>
              </a:pPr>
              <a:r>
                <a:rPr lang="en-US" sz="1200" b="0" i="0" dirty="0">
                  <a:solidFill>
                    <a:srgbClr val="000000"/>
                  </a:solidFill>
                  <a:effectLst/>
                  <a:latin typeface="Outfit"/>
                </a:rPr>
                <a:t>The increasing penetration of voice technology underscores its potential in transforming routine </a:t>
              </a:r>
              <a:r>
                <a:rPr lang="en-US" sz="1200" b="1" i="0" dirty="0">
                  <a:solidFill>
                    <a:srgbClr val="000000"/>
                  </a:solidFill>
                  <a:effectLst/>
                  <a:latin typeface="Outfit"/>
                </a:rPr>
                <a:t>apparel purchases</a:t>
              </a:r>
              <a:r>
                <a:rPr lang="en-US" sz="1200" b="0" i="0" dirty="0">
                  <a:solidFill>
                    <a:srgbClr val="000000"/>
                  </a:solidFill>
                  <a:effectLst/>
                  <a:latin typeface="Outfit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4013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A0320-78A0-E260-B410-C1778DD72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9EAEB3-6CC3-9B78-C629-3FC7074EEF4D}"/>
              </a:ext>
            </a:extLst>
          </p:cNvPr>
          <p:cNvSpPr txBox="1"/>
          <p:nvPr/>
        </p:nvSpPr>
        <p:spPr>
          <a:xfrm>
            <a:off x="457199" y="305191"/>
            <a:ext cx="107569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dirty="0">
                <a:solidFill>
                  <a:srgbClr val="000000"/>
                </a:solidFill>
                <a:effectLst/>
                <a:latin typeface="Century" panose="02040604050505020304" pitchFamily="18" charset="0"/>
              </a:rPr>
              <a:t>Case Study: Stitch Fix – AI Driven Personal Styling Strategies</a:t>
            </a:r>
            <a:endParaRPr lang="en-IN" sz="2800" b="1" dirty="0">
              <a:latin typeface="Century" panose="02040604050505020304" pitchFamily="18" charset="0"/>
            </a:endParaRPr>
          </a:p>
        </p:txBody>
      </p:sp>
      <p:sp>
        <p:nvSpPr>
          <p:cNvPr id="4" name="L-Shape 3">
            <a:extLst>
              <a:ext uri="{FF2B5EF4-FFF2-40B4-BE49-F238E27FC236}">
                <a16:creationId xmlns:a16="http://schemas.microsoft.com/office/drawing/2014/main" id="{9F880C1A-7158-584B-8C5D-6D817247B2EC}"/>
              </a:ext>
            </a:extLst>
          </p:cNvPr>
          <p:cNvSpPr/>
          <p:nvPr/>
        </p:nvSpPr>
        <p:spPr>
          <a:xfrm rot="10800000">
            <a:off x="10932000" y="0"/>
            <a:ext cx="1260000" cy="1260000"/>
          </a:xfrm>
          <a:prstGeom prst="corner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9FE3A9-AE38-3134-62F2-C94356AC6A7A}"/>
              </a:ext>
            </a:extLst>
          </p:cNvPr>
          <p:cNvSpPr txBox="1"/>
          <p:nvPr/>
        </p:nvSpPr>
        <p:spPr>
          <a:xfrm>
            <a:off x="457200" y="828411"/>
            <a:ext cx="80645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4D4D4D"/>
                </a:solidFill>
                <a:effectLst/>
                <a:latin typeface="Outfit"/>
              </a:rPr>
              <a:t>Exploring AI's impact on customer engagement and retention in the apparel industry</a:t>
            </a:r>
            <a:endParaRPr lang="en-IN" sz="16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BFBF17E-096F-CE96-AD5D-7C52B365C1D9}"/>
              </a:ext>
            </a:extLst>
          </p:cNvPr>
          <p:cNvGrpSpPr/>
          <p:nvPr/>
        </p:nvGrpSpPr>
        <p:grpSpPr>
          <a:xfrm>
            <a:off x="457199" y="2130851"/>
            <a:ext cx="11464924" cy="714298"/>
            <a:chOff x="457199" y="2130851"/>
            <a:chExt cx="11464924" cy="71429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DF30A50-699D-2CAC-E029-08AB37DA0C5B}"/>
                </a:ext>
              </a:extLst>
            </p:cNvPr>
            <p:cNvSpPr txBox="1"/>
            <p:nvPr/>
          </p:nvSpPr>
          <p:spPr>
            <a:xfrm>
              <a:off x="457199" y="2164835"/>
              <a:ext cx="340042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i="0" dirty="0">
                  <a:solidFill>
                    <a:srgbClr val="000000"/>
                  </a:solidFill>
                  <a:effectLst/>
                  <a:latin typeface="Century" panose="02040604050505020304" pitchFamily="18" charset="0"/>
                </a:rPr>
                <a:t>Data Collection and Customer Insights</a:t>
              </a:r>
              <a:endParaRPr lang="en-IN" b="1" dirty="0">
                <a:latin typeface="Century" panose="02040604050505020304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60A5B3F-D7E0-6E3B-5B51-A50E22BB1A4B}"/>
                </a:ext>
              </a:extLst>
            </p:cNvPr>
            <p:cNvSpPr txBox="1"/>
            <p:nvPr/>
          </p:nvSpPr>
          <p:spPr>
            <a:xfrm>
              <a:off x="3857624" y="2130851"/>
              <a:ext cx="8064499" cy="7142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ts val="2538"/>
                </a:lnSpc>
              </a:pPr>
              <a:r>
                <a:rPr lang="en-US" sz="1400" b="0" i="0" dirty="0">
                  <a:solidFill>
                    <a:srgbClr val="000000"/>
                  </a:solidFill>
                  <a:effectLst/>
                  <a:latin typeface="Outfit"/>
                </a:rPr>
                <a:t>Stitch Fix collects </a:t>
              </a:r>
              <a:r>
                <a:rPr lang="en-US" sz="1400" b="1" i="0" dirty="0">
                  <a:solidFill>
                    <a:srgbClr val="000000"/>
                  </a:solidFill>
                  <a:effectLst/>
                  <a:latin typeface="Outfit"/>
                </a:rPr>
                <a:t>90+ specific data points</a:t>
              </a:r>
              <a:r>
                <a:rPr lang="en-US" sz="1400" b="0" i="0" dirty="0">
                  <a:solidFill>
                    <a:srgbClr val="000000"/>
                  </a:solidFill>
                  <a:effectLst/>
                  <a:latin typeface="Outfit"/>
                </a:rPr>
                <a:t> through detailed customer surveys, enabling them to tailor the shopping experience to individual preferences.</a:t>
              </a:r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A7D3D6C-54C2-3592-1503-B98C231ECC43}"/>
              </a:ext>
            </a:extLst>
          </p:cNvPr>
          <p:cNvCxnSpPr>
            <a:cxnSpLocks/>
          </p:cNvCxnSpPr>
          <p:nvPr/>
        </p:nvCxnSpPr>
        <p:spPr>
          <a:xfrm flipV="1">
            <a:off x="457199" y="3110300"/>
            <a:ext cx="11464924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442348A-BF00-3B19-2049-0CD474D45C09}"/>
              </a:ext>
            </a:extLst>
          </p:cNvPr>
          <p:cNvGrpSpPr/>
          <p:nvPr/>
        </p:nvGrpSpPr>
        <p:grpSpPr>
          <a:xfrm>
            <a:off x="457199" y="3245286"/>
            <a:ext cx="11464924" cy="714298"/>
            <a:chOff x="457199" y="2130851"/>
            <a:chExt cx="11464924" cy="714298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6A1F676-71DE-BA26-8FCF-EBBBF21A45CA}"/>
                </a:ext>
              </a:extLst>
            </p:cNvPr>
            <p:cNvSpPr txBox="1"/>
            <p:nvPr/>
          </p:nvSpPr>
          <p:spPr>
            <a:xfrm>
              <a:off x="457199" y="2164835"/>
              <a:ext cx="340042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i="0" dirty="0">
                  <a:solidFill>
                    <a:srgbClr val="000000"/>
                  </a:solidFill>
                  <a:effectLst/>
                  <a:latin typeface="Century" panose="02040604050505020304" pitchFamily="18" charset="0"/>
                </a:rPr>
                <a:t>Hyper-Personalization for Retention</a:t>
              </a:r>
              <a:endParaRPr lang="en-IN" b="1" dirty="0">
                <a:latin typeface="Century" panose="02040604050505020304" pitchFamily="18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2D3B9FA-D0BD-87B3-4A1F-425A3AB5A829}"/>
                </a:ext>
              </a:extLst>
            </p:cNvPr>
            <p:cNvSpPr txBox="1"/>
            <p:nvPr/>
          </p:nvSpPr>
          <p:spPr>
            <a:xfrm>
              <a:off x="3857624" y="2130851"/>
              <a:ext cx="8064499" cy="7142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ts val="2538"/>
                </a:lnSpc>
              </a:pPr>
              <a:r>
                <a:rPr lang="en-US" sz="1400" b="0" i="0" dirty="0">
                  <a:solidFill>
                    <a:srgbClr val="000000"/>
                  </a:solidFill>
                  <a:effectLst/>
                  <a:latin typeface="Outfit"/>
                </a:rPr>
                <a:t>The company achieves </a:t>
              </a:r>
              <a:r>
                <a:rPr lang="en-US" sz="1400" b="1" i="0" dirty="0">
                  <a:solidFill>
                    <a:srgbClr val="000000"/>
                  </a:solidFill>
                  <a:effectLst/>
                  <a:latin typeface="Outfit"/>
                </a:rPr>
                <a:t>industry-leading customer retention</a:t>
              </a:r>
              <a:r>
                <a:rPr lang="en-US" sz="1400" b="0" i="0" dirty="0">
                  <a:solidFill>
                    <a:srgbClr val="000000"/>
                  </a:solidFill>
                  <a:effectLst/>
                  <a:latin typeface="Outfit"/>
                </a:rPr>
                <a:t> rates through hyper-personalization, enhancing the overall customer experience and loyalty.</a:t>
              </a:r>
            </a:p>
          </p:txBody>
        </p: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B5159C8-1F60-1B4D-0DF1-B0EA175699B8}"/>
              </a:ext>
            </a:extLst>
          </p:cNvPr>
          <p:cNvCxnSpPr>
            <a:cxnSpLocks/>
          </p:cNvCxnSpPr>
          <p:nvPr/>
        </p:nvCxnSpPr>
        <p:spPr>
          <a:xfrm flipV="1">
            <a:off x="457199" y="4094569"/>
            <a:ext cx="11464924" cy="1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735A33F-E1C9-93F2-2261-EE8C5770F6AB}"/>
              </a:ext>
            </a:extLst>
          </p:cNvPr>
          <p:cNvGrpSpPr/>
          <p:nvPr/>
        </p:nvGrpSpPr>
        <p:grpSpPr>
          <a:xfrm>
            <a:off x="457199" y="4229555"/>
            <a:ext cx="11464924" cy="700769"/>
            <a:chOff x="457199" y="2130851"/>
            <a:chExt cx="11464924" cy="700769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1E80DE9-2608-DCA4-1A5F-ACD0F61388CF}"/>
                </a:ext>
              </a:extLst>
            </p:cNvPr>
            <p:cNvSpPr txBox="1"/>
            <p:nvPr/>
          </p:nvSpPr>
          <p:spPr>
            <a:xfrm>
              <a:off x="457199" y="2164835"/>
              <a:ext cx="340042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i="0" dirty="0">
                  <a:solidFill>
                    <a:srgbClr val="000000"/>
                  </a:solidFill>
                  <a:effectLst/>
                  <a:latin typeface="Century" panose="02040604050505020304" pitchFamily="18" charset="0"/>
                </a:rPr>
                <a:t>Lower Return Rates</a:t>
              </a:r>
              <a:endParaRPr lang="en-IN" b="1" dirty="0">
                <a:latin typeface="Century" panose="02040604050505020304" pitchFamily="18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2CA7A16-706E-A58F-C32E-A0BBB48A08C7}"/>
                </a:ext>
              </a:extLst>
            </p:cNvPr>
            <p:cNvSpPr txBox="1"/>
            <p:nvPr/>
          </p:nvSpPr>
          <p:spPr>
            <a:xfrm>
              <a:off x="3857624" y="2130851"/>
              <a:ext cx="8064499" cy="7007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2538"/>
                </a:lnSpc>
              </a:pPr>
              <a:r>
                <a:rPr lang="en-US" sz="1400" b="0" i="0" dirty="0">
                  <a:solidFill>
                    <a:srgbClr val="000000"/>
                  </a:solidFill>
                  <a:effectLst/>
                  <a:latin typeface="Outfit"/>
                </a:rPr>
                <a:t>Stitch Fix reduces </a:t>
              </a:r>
              <a:r>
                <a:rPr lang="en-US" sz="1400" b="1" i="0" dirty="0">
                  <a:solidFill>
                    <a:srgbClr val="000000"/>
                  </a:solidFill>
                  <a:effectLst/>
                  <a:latin typeface="Outfit"/>
                </a:rPr>
                <a:t>return rates</a:t>
              </a:r>
              <a:r>
                <a:rPr lang="en-US" sz="1400" b="0" i="0" dirty="0">
                  <a:solidFill>
                    <a:srgbClr val="000000"/>
                  </a:solidFill>
                  <a:effectLst/>
                  <a:latin typeface="Outfit"/>
                </a:rPr>
                <a:t> compared to traditional online apparel shopping, demonstrating the effectiveness of their curated styling approach.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028277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396BC1-143B-77BA-D137-FDE02C871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761E71-BA75-B108-8321-37CC4EB7AC8B}"/>
              </a:ext>
            </a:extLst>
          </p:cNvPr>
          <p:cNvSpPr txBox="1"/>
          <p:nvPr/>
        </p:nvSpPr>
        <p:spPr>
          <a:xfrm>
            <a:off x="457200" y="305191"/>
            <a:ext cx="67183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dirty="0">
                <a:solidFill>
                  <a:schemeClr val="bg1"/>
                </a:solidFill>
                <a:effectLst/>
                <a:latin typeface="Century" panose="02040604050505020304" pitchFamily="18" charset="0"/>
              </a:rPr>
              <a:t>Strategic Takeaways for AI Agents</a:t>
            </a:r>
            <a:endParaRPr lang="en-IN" sz="3200" b="1" dirty="0">
              <a:solidFill>
                <a:schemeClr val="bg1"/>
              </a:solidFill>
              <a:latin typeface="Century" panose="020406040505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45630E-5BE9-65A8-3947-4D8B4FAF9C4D}"/>
              </a:ext>
            </a:extLst>
          </p:cNvPr>
          <p:cNvSpPr txBox="1"/>
          <p:nvPr/>
        </p:nvSpPr>
        <p:spPr>
          <a:xfrm>
            <a:off x="457200" y="934317"/>
            <a:ext cx="7323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FFFFF"/>
                </a:solidFill>
                <a:effectLst/>
                <a:latin typeface="Outfit"/>
              </a:rPr>
              <a:t>Harnessing AI for Competitive Edge in Retail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A21D6F31-7C23-0736-1E18-C60B46A5FE9F}"/>
              </a:ext>
            </a:extLst>
          </p:cNvPr>
          <p:cNvSpPr/>
          <p:nvPr/>
        </p:nvSpPr>
        <p:spPr>
          <a:xfrm rot="652323">
            <a:off x="3870918" y="-4753284"/>
            <a:ext cx="13107813" cy="13456544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965BCA1-895B-ECB3-2A18-F37B4EA1F834}"/>
              </a:ext>
            </a:extLst>
          </p:cNvPr>
          <p:cNvGrpSpPr/>
          <p:nvPr/>
        </p:nvGrpSpPr>
        <p:grpSpPr>
          <a:xfrm>
            <a:off x="6438792" y="1640181"/>
            <a:ext cx="8540858" cy="1141882"/>
            <a:chOff x="6438792" y="1640181"/>
            <a:chExt cx="8540858" cy="1141882"/>
          </a:xfrm>
        </p:grpSpPr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8FA05D03-FFD2-F1D1-292A-5540A12BA73F}"/>
                </a:ext>
              </a:extLst>
            </p:cNvPr>
            <p:cNvSpPr/>
            <p:nvPr/>
          </p:nvSpPr>
          <p:spPr>
            <a:xfrm rot="2320138">
              <a:off x="6438792" y="2131932"/>
              <a:ext cx="180000" cy="180000"/>
            </a:xfrm>
            <a:prstGeom prst="flowChartConnector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93E038B-96C1-00AA-89D3-A4FD86963103}"/>
                </a:ext>
              </a:extLst>
            </p:cNvPr>
            <p:cNvSpPr txBox="1"/>
            <p:nvPr/>
          </p:nvSpPr>
          <p:spPr>
            <a:xfrm>
              <a:off x="7175500" y="1640181"/>
              <a:ext cx="78041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i="0" dirty="0">
                  <a:solidFill>
                    <a:srgbClr val="000000"/>
                  </a:solidFill>
                  <a:effectLst/>
                  <a:latin typeface="Century" panose="02040604050505020304" pitchFamily="18" charset="0"/>
                </a:rPr>
                <a:t>Multimodal integration advantage</a:t>
              </a:r>
              <a:endParaRPr lang="en-IN" b="1" dirty="0">
                <a:latin typeface="Century" panose="02040604050505020304" pitchFamily="18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8F9BB2B-3E39-18EA-DD48-7E272934E620}"/>
                </a:ext>
              </a:extLst>
            </p:cNvPr>
            <p:cNvSpPr txBox="1"/>
            <p:nvPr/>
          </p:nvSpPr>
          <p:spPr>
            <a:xfrm>
              <a:off x="7175500" y="2067765"/>
              <a:ext cx="4368800" cy="7142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ts val="2538"/>
                </a:lnSpc>
              </a:pPr>
              <a:r>
                <a:rPr lang="en-US" sz="1400" b="0" i="0" dirty="0">
                  <a:solidFill>
                    <a:srgbClr val="000000"/>
                  </a:solidFill>
                  <a:effectLst/>
                  <a:latin typeface="Outfit"/>
                </a:rPr>
                <a:t>Integrating various </a:t>
              </a:r>
              <a:r>
                <a:rPr lang="en-US" sz="1400" b="1" i="0" dirty="0">
                  <a:solidFill>
                    <a:srgbClr val="000000"/>
                  </a:solidFill>
                  <a:effectLst/>
                  <a:latin typeface="Outfit"/>
                </a:rPr>
                <a:t>modalities</a:t>
              </a:r>
              <a:r>
                <a:rPr lang="en-US" sz="1400" b="0" i="0" dirty="0">
                  <a:solidFill>
                    <a:srgbClr val="000000"/>
                  </a:solidFill>
                  <a:effectLst/>
                  <a:latin typeface="Outfit"/>
                </a:rPr>
                <a:t> enhances decision-making, providing a </a:t>
              </a:r>
              <a:r>
                <a:rPr lang="en-US" sz="1400" b="1" i="0" dirty="0">
                  <a:solidFill>
                    <a:srgbClr val="000000"/>
                  </a:solidFill>
                  <a:effectLst/>
                  <a:latin typeface="Outfit"/>
                </a:rPr>
                <a:t>competitive edge</a:t>
              </a:r>
              <a:r>
                <a:rPr lang="en-US" sz="1400" b="0" i="0" dirty="0">
                  <a:solidFill>
                    <a:srgbClr val="000000"/>
                  </a:solidFill>
                  <a:effectLst/>
                  <a:latin typeface="Outfit"/>
                </a:rPr>
                <a:t> in the apparel sector.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F3589F9-F1F8-C9C9-7AC5-3D0B8CD8C1AD}"/>
              </a:ext>
            </a:extLst>
          </p:cNvPr>
          <p:cNvGrpSpPr/>
          <p:nvPr/>
        </p:nvGrpSpPr>
        <p:grpSpPr>
          <a:xfrm>
            <a:off x="5435493" y="3081644"/>
            <a:ext cx="8464657" cy="1089372"/>
            <a:chOff x="5435493" y="3081644"/>
            <a:chExt cx="8464657" cy="1089372"/>
          </a:xfrm>
        </p:grpSpPr>
        <p:sp>
          <p:nvSpPr>
            <p:cNvPr id="20" name="Flowchart: Connector 19">
              <a:extLst>
                <a:ext uri="{FF2B5EF4-FFF2-40B4-BE49-F238E27FC236}">
                  <a16:creationId xmlns:a16="http://schemas.microsoft.com/office/drawing/2014/main" id="{02FF0D25-9E33-F26D-3043-8D59D8507572}"/>
                </a:ext>
              </a:extLst>
            </p:cNvPr>
            <p:cNvSpPr/>
            <p:nvPr/>
          </p:nvSpPr>
          <p:spPr>
            <a:xfrm rot="2320138">
              <a:off x="5435493" y="3476538"/>
              <a:ext cx="180000" cy="180000"/>
            </a:xfrm>
            <a:prstGeom prst="flowChartConnector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D0D85BB-329A-A414-148A-932494C3C931}"/>
                </a:ext>
              </a:extLst>
            </p:cNvPr>
            <p:cNvSpPr txBox="1"/>
            <p:nvPr/>
          </p:nvSpPr>
          <p:spPr>
            <a:xfrm>
              <a:off x="6096000" y="3081644"/>
              <a:ext cx="78041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i="0" dirty="0">
                  <a:solidFill>
                    <a:srgbClr val="000000"/>
                  </a:solidFill>
                  <a:effectLst/>
                  <a:latin typeface="Century" panose="02040604050505020304" pitchFamily="18" charset="0"/>
                </a:rPr>
                <a:t>ROI through operational efficiency</a:t>
              </a:r>
              <a:endParaRPr lang="en-IN" b="1" dirty="0">
                <a:latin typeface="Century" panose="02040604050505020304" pitchFamily="18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39D5E72-7590-FF6F-F989-1FE1B1F115DD}"/>
                </a:ext>
              </a:extLst>
            </p:cNvPr>
            <p:cNvSpPr txBox="1"/>
            <p:nvPr/>
          </p:nvSpPr>
          <p:spPr>
            <a:xfrm>
              <a:off x="6096000" y="3456718"/>
              <a:ext cx="4102100" cy="7142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ts val="2538"/>
                </a:lnSpc>
              </a:pPr>
              <a:r>
                <a:rPr lang="en-US" sz="1400" b="0" i="0" dirty="0">
                  <a:solidFill>
                    <a:srgbClr val="000000"/>
                  </a:solidFill>
                  <a:effectLst/>
                  <a:latin typeface="Outfit"/>
                </a:rPr>
                <a:t>AI agents significantly improve </a:t>
              </a:r>
              <a:r>
                <a:rPr lang="en-US" sz="1400" b="1" i="0" dirty="0">
                  <a:solidFill>
                    <a:srgbClr val="000000"/>
                  </a:solidFill>
                  <a:effectLst/>
                  <a:latin typeface="Outfit"/>
                </a:rPr>
                <a:t>operational efficiency</a:t>
              </a:r>
              <a:r>
                <a:rPr lang="en-US" sz="1400" b="0" i="0" dirty="0">
                  <a:solidFill>
                    <a:srgbClr val="000000"/>
                  </a:solidFill>
                  <a:effectLst/>
                  <a:latin typeface="Outfit"/>
                </a:rPr>
                <a:t>, leading to measurable </a:t>
              </a:r>
              <a:r>
                <a:rPr lang="en-US" sz="1400" b="1" i="0" dirty="0">
                  <a:solidFill>
                    <a:srgbClr val="000000"/>
                  </a:solidFill>
                  <a:effectLst/>
                  <a:latin typeface="Outfit"/>
                </a:rPr>
                <a:t>ROI</a:t>
              </a:r>
              <a:r>
                <a:rPr lang="en-US" sz="1400" b="0" i="0" dirty="0">
                  <a:solidFill>
                    <a:srgbClr val="000000"/>
                  </a:solidFill>
                  <a:effectLst/>
                  <a:latin typeface="Outfit"/>
                </a:rPr>
                <a:t> in business processes.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E4F0697-6936-61A1-0B0D-73BE89DE9859}"/>
              </a:ext>
            </a:extLst>
          </p:cNvPr>
          <p:cNvGrpSpPr/>
          <p:nvPr/>
        </p:nvGrpSpPr>
        <p:grpSpPr>
          <a:xfrm>
            <a:off x="4281781" y="4609877"/>
            <a:ext cx="8605544" cy="1070101"/>
            <a:chOff x="4281781" y="4609877"/>
            <a:chExt cx="8605544" cy="1070101"/>
          </a:xfrm>
        </p:grpSpPr>
        <p:sp>
          <p:nvSpPr>
            <p:cNvPr id="31" name="Flowchart: Connector 30">
              <a:extLst>
                <a:ext uri="{FF2B5EF4-FFF2-40B4-BE49-F238E27FC236}">
                  <a16:creationId xmlns:a16="http://schemas.microsoft.com/office/drawing/2014/main" id="{67FB1723-3534-7AFC-FF67-9B201AF2BEF6}"/>
                </a:ext>
              </a:extLst>
            </p:cNvPr>
            <p:cNvSpPr/>
            <p:nvPr/>
          </p:nvSpPr>
          <p:spPr>
            <a:xfrm rot="2320138">
              <a:off x="4281781" y="5018441"/>
              <a:ext cx="180000" cy="180000"/>
            </a:xfrm>
            <a:prstGeom prst="flowChartConnector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A7F5E1F-97D9-EA38-8445-1A9892DC9D24}"/>
                </a:ext>
              </a:extLst>
            </p:cNvPr>
            <p:cNvSpPr txBox="1"/>
            <p:nvPr/>
          </p:nvSpPr>
          <p:spPr>
            <a:xfrm>
              <a:off x="5083175" y="4609877"/>
              <a:ext cx="78041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i="0" dirty="0">
                  <a:solidFill>
                    <a:srgbClr val="000000"/>
                  </a:solidFill>
                  <a:effectLst/>
                  <a:latin typeface="Century" panose="02040604050505020304" pitchFamily="18" charset="0"/>
                </a:rPr>
                <a:t>Trust drives consumer adoption</a:t>
              </a:r>
              <a:endParaRPr lang="en-IN" b="1" dirty="0">
                <a:latin typeface="Century" panose="02040604050505020304" pitchFamily="18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050C09-37BC-B340-3526-EA91B3816D27}"/>
                </a:ext>
              </a:extLst>
            </p:cNvPr>
            <p:cNvSpPr txBox="1"/>
            <p:nvPr/>
          </p:nvSpPr>
          <p:spPr>
            <a:xfrm>
              <a:off x="5083175" y="4979209"/>
              <a:ext cx="4530725" cy="7007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ts val="2538"/>
                </a:lnSpc>
              </a:pPr>
              <a:r>
                <a:rPr lang="en-US" sz="1400" b="0" i="0" dirty="0">
                  <a:solidFill>
                    <a:srgbClr val="000000"/>
                  </a:solidFill>
                  <a:effectLst/>
                  <a:latin typeface="Outfit"/>
                </a:rPr>
                <a:t>Building </a:t>
              </a:r>
              <a:r>
                <a:rPr lang="en-US" sz="1400" b="1" i="0" dirty="0">
                  <a:solidFill>
                    <a:srgbClr val="000000"/>
                  </a:solidFill>
                  <a:effectLst/>
                  <a:latin typeface="Outfit"/>
                </a:rPr>
                <a:t>trust</a:t>
              </a:r>
              <a:r>
                <a:rPr lang="en-US" sz="1400" b="0" i="0" dirty="0">
                  <a:solidFill>
                    <a:srgbClr val="000000"/>
                  </a:solidFill>
                  <a:effectLst/>
                  <a:latin typeface="Outfit"/>
                </a:rPr>
                <a:t> and ensuring </a:t>
              </a:r>
              <a:r>
                <a:rPr lang="en-US" sz="1400" b="1" i="0" dirty="0">
                  <a:solidFill>
                    <a:srgbClr val="000000"/>
                  </a:solidFill>
                  <a:effectLst/>
                  <a:latin typeface="Outfit"/>
                </a:rPr>
                <a:t>transparency</a:t>
              </a:r>
              <a:r>
                <a:rPr lang="en-US" sz="1400" b="0" i="0" dirty="0">
                  <a:solidFill>
                    <a:srgbClr val="000000"/>
                  </a:solidFill>
                  <a:effectLst/>
                  <a:latin typeface="Outfit"/>
                </a:rPr>
                <a:t> are crucial for increasing consumer </a:t>
              </a:r>
              <a:r>
                <a:rPr lang="en-US" sz="1400" b="1" i="0" dirty="0">
                  <a:solidFill>
                    <a:srgbClr val="000000"/>
                  </a:solidFill>
                  <a:effectLst/>
                  <a:latin typeface="Outfit"/>
                </a:rPr>
                <a:t>adoption</a:t>
              </a:r>
              <a:r>
                <a:rPr lang="en-US" sz="1400" b="0" i="0" dirty="0">
                  <a:solidFill>
                    <a:srgbClr val="000000"/>
                  </a:solidFill>
                  <a:effectLst/>
                  <a:latin typeface="Outfit"/>
                </a:rPr>
                <a:t> of AI solutions in retail.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889066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C607B-B8CE-4E88-2266-CF5CD4758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79B7CD-9CD9-9DC0-FE87-A62090DB8644}"/>
              </a:ext>
            </a:extLst>
          </p:cNvPr>
          <p:cNvSpPr txBox="1"/>
          <p:nvPr/>
        </p:nvSpPr>
        <p:spPr>
          <a:xfrm>
            <a:off x="457199" y="305191"/>
            <a:ext cx="107569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dirty="0">
                <a:solidFill>
                  <a:srgbClr val="000000"/>
                </a:solidFill>
                <a:effectLst/>
                <a:latin typeface="Century" panose="02040604050505020304" pitchFamily="18" charset="0"/>
              </a:rPr>
              <a:t>Transforming AI Agents in Retail</a:t>
            </a:r>
            <a:endParaRPr lang="en-IN" sz="3200" b="1" dirty="0">
              <a:latin typeface="Century" panose="02040604050505020304" pitchFamily="18" charset="0"/>
            </a:endParaRPr>
          </a:p>
        </p:txBody>
      </p:sp>
      <p:sp>
        <p:nvSpPr>
          <p:cNvPr id="4" name="L-Shape 3">
            <a:extLst>
              <a:ext uri="{FF2B5EF4-FFF2-40B4-BE49-F238E27FC236}">
                <a16:creationId xmlns:a16="http://schemas.microsoft.com/office/drawing/2014/main" id="{2619DB1C-8B60-6A85-E137-029A38AF3CA0}"/>
              </a:ext>
            </a:extLst>
          </p:cNvPr>
          <p:cNvSpPr/>
          <p:nvPr/>
        </p:nvSpPr>
        <p:spPr>
          <a:xfrm rot="10800000">
            <a:off x="10932000" y="0"/>
            <a:ext cx="1260000" cy="1260000"/>
          </a:xfrm>
          <a:prstGeom prst="corner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0659BE-A351-5E01-5513-5ACAF816FE1E}"/>
              </a:ext>
            </a:extLst>
          </p:cNvPr>
          <p:cNvSpPr txBox="1"/>
          <p:nvPr/>
        </p:nvSpPr>
        <p:spPr>
          <a:xfrm>
            <a:off x="457200" y="828411"/>
            <a:ext cx="8064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D4D4D"/>
                </a:solidFill>
                <a:effectLst/>
                <a:latin typeface="Outfit"/>
              </a:rPr>
              <a:t>Exploring AI's role in enhancing revenue and customer engagement</a:t>
            </a:r>
            <a:endParaRPr lang="en-IN" dirty="0"/>
          </a:p>
        </p:txBody>
      </p:sp>
      <p:grpSp>
        <p:nvGrpSpPr>
          <p:cNvPr id="2079" name="Group 2078">
            <a:extLst>
              <a:ext uri="{FF2B5EF4-FFF2-40B4-BE49-F238E27FC236}">
                <a16:creationId xmlns:a16="http://schemas.microsoft.com/office/drawing/2014/main" id="{D6CD7847-FDE9-1582-0AE4-BEF242012C21}"/>
              </a:ext>
            </a:extLst>
          </p:cNvPr>
          <p:cNvGrpSpPr/>
          <p:nvPr/>
        </p:nvGrpSpPr>
        <p:grpSpPr>
          <a:xfrm>
            <a:off x="9182100" y="2514598"/>
            <a:ext cx="2692402" cy="2807609"/>
            <a:chOff x="9182100" y="2514598"/>
            <a:chExt cx="2692402" cy="2807609"/>
          </a:xfrm>
        </p:grpSpPr>
        <p:grpSp>
          <p:nvGrpSpPr>
            <p:cNvPr id="2053" name="Group 2052">
              <a:extLst>
                <a:ext uri="{FF2B5EF4-FFF2-40B4-BE49-F238E27FC236}">
                  <a16:creationId xmlns:a16="http://schemas.microsoft.com/office/drawing/2014/main" id="{FAB0E3F3-F131-DFE6-6AC6-EC969B3A435F}"/>
                </a:ext>
              </a:extLst>
            </p:cNvPr>
            <p:cNvGrpSpPr/>
            <p:nvPr/>
          </p:nvGrpSpPr>
          <p:grpSpPr>
            <a:xfrm>
              <a:off x="9182100" y="2514598"/>
              <a:ext cx="2692402" cy="2807609"/>
              <a:chOff x="457198" y="2514599"/>
              <a:chExt cx="2692402" cy="2807609"/>
            </a:xfrm>
          </p:grpSpPr>
          <p:sp>
            <p:nvSpPr>
              <p:cNvPr id="2054" name="Flowchart: Connector 2053">
                <a:extLst>
                  <a:ext uri="{FF2B5EF4-FFF2-40B4-BE49-F238E27FC236}">
                    <a16:creationId xmlns:a16="http://schemas.microsoft.com/office/drawing/2014/main" id="{93E79F3B-BDBA-042F-C979-3AEB507CAE20}"/>
                  </a:ext>
                </a:extLst>
              </p:cNvPr>
              <p:cNvSpPr/>
              <p:nvPr/>
            </p:nvSpPr>
            <p:spPr>
              <a:xfrm>
                <a:off x="584024" y="2514599"/>
                <a:ext cx="914399" cy="914400"/>
              </a:xfrm>
              <a:prstGeom prst="flowChartConnector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055" name="TextBox 2054">
                <a:extLst>
                  <a:ext uri="{FF2B5EF4-FFF2-40B4-BE49-F238E27FC236}">
                    <a16:creationId xmlns:a16="http://schemas.microsoft.com/office/drawing/2014/main" id="{7222F133-6FD7-7C84-99DD-D4A2A5DB5D58}"/>
                  </a:ext>
                </a:extLst>
              </p:cNvPr>
              <p:cNvSpPr txBox="1"/>
              <p:nvPr/>
            </p:nvSpPr>
            <p:spPr>
              <a:xfrm>
                <a:off x="457198" y="3704571"/>
                <a:ext cx="269240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400" b="1" dirty="0">
                    <a:latin typeface="Century" panose="02040604050505020304" pitchFamily="18" charset="0"/>
                  </a:rPr>
                  <a:t>Optimizing cross-selling opportunities</a:t>
                </a:r>
              </a:p>
            </p:txBody>
          </p:sp>
          <p:sp>
            <p:nvSpPr>
              <p:cNvPr id="2056" name="TextBox 2055">
                <a:extLst>
                  <a:ext uri="{FF2B5EF4-FFF2-40B4-BE49-F238E27FC236}">
                    <a16:creationId xmlns:a16="http://schemas.microsoft.com/office/drawing/2014/main" id="{B6A8E9B5-AD52-B728-622B-DA80FE8CEA86}"/>
                  </a:ext>
                </a:extLst>
              </p:cNvPr>
              <p:cNvSpPr txBox="1"/>
              <p:nvPr/>
            </p:nvSpPr>
            <p:spPr>
              <a:xfrm>
                <a:off x="457198" y="4240437"/>
                <a:ext cx="2692402" cy="10817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sz="1100" b="0" i="0" dirty="0">
                    <a:solidFill>
                      <a:srgbClr val="000000"/>
                    </a:solidFill>
                    <a:effectLst/>
                    <a:latin typeface="Outfit"/>
                  </a:rPr>
                  <a:t>By analyzing customer behavior and preferences, AI agents optimize cross-selling strategies, thus maximizing the value of each customer interaction.</a:t>
                </a:r>
              </a:p>
            </p:txBody>
          </p:sp>
        </p:grpSp>
        <p:pic>
          <p:nvPicPr>
            <p:cNvPr id="2069" name="Picture 2068">
              <a:extLst>
                <a:ext uri="{FF2B5EF4-FFF2-40B4-BE49-F238E27FC236}">
                  <a16:creationId xmlns:a16="http://schemas.microsoft.com/office/drawing/2014/main" id="{D1ED1CA6-01E1-0852-9EB7-1550C7DCA0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496125" y="2697581"/>
              <a:ext cx="540000" cy="540000"/>
            </a:xfrm>
            <a:prstGeom prst="rect">
              <a:avLst/>
            </a:prstGeom>
          </p:spPr>
        </p:pic>
      </p:grpSp>
      <p:grpSp>
        <p:nvGrpSpPr>
          <p:cNvPr id="2078" name="Group 2077">
            <a:extLst>
              <a:ext uri="{FF2B5EF4-FFF2-40B4-BE49-F238E27FC236}">
                <a16:creationId xmlns:a16="http://schemas.microsoft.com/office/drawing/2014/main" id="{AA7CE47C-3524-85B0-4009-4B13EDADEC3E}"/>
              </a:ext>
            </a:extLst>
          </p:cNvPr>
          <p:cNvGrpSpPr/>
          <p:nvPr/>
        </p:nvGrpSpPr>
        <p:grpSpPr>
          <a:xfrm>
            <a:off x="6219825" y="2514598"/>
            <a:ext cx="2692402" cy="2807609"/>
            <a:chOff x="6219825" y="2514598"/>
            <a:chExt cx="2692402" cy="2807609"/>
          </a:xfrm>
        </p:grpSpPr>
        <p:grpSp>
          <p:nvGrpSpPr>
            <p:cNvPr id="2048" name="Group 2047">
              <a:extLst>
                <a:ext uri="{FF2B5EF4-FFF2-40B4-BE49-F238E27FC236}">
                  <a16:creationId xmlns:a16="http://schemas.microsoft.com/office/drawing/2014/main" id="{8D97C956-A1CB-7F94-AFF4-3C18B4E3D816}"/>
                </a:ext>
              </a:extLst>
            </p:cNvPr>
            <p:cNvGrpSpPr/>
            <p:nvPr/>
          </p:nvGrpSpPr>
          <p:grpSpPr>
            <a:xfrm>
              <a:off x="6219825" y="2514598"/>
              <a:ext cx="2692402" cy="2807609"/>
              <a:chOff x="457198" y="2514599"/>
              <a:chExt cx="2692402" cy="2807609"/>
            </a:xfrm>
          </p:grpSpPr>
          <p:sp>
            <p:nvSpPr>
              <p:cNvPr id="2049" name="Flowchart: Connector 2048">
                <a:extLst>
                  <a:ext uri="{FF2B5EF4-FFF2-40B4-BE49-F238E27FC236}">
                    <a16:creationId xmlns:a16="http://schemas.microsoft.com/office/drawing/2014/main" id="{4D4D69E9-E4D1-2ABD-839B-EB4DFE1FC722}"/>
                  </a:ext>
                </a:extLst>
              </p:cNvPr>
              <p:cNvSpPr/>
              <p:nvPr/>
            </p:nvSpPr>
            <p:spPr>
              <a:xfrm>
                <a:off x="584024" y="2514599"/>
                <a:ext cx="914399" cy="914400"/>
              </a:xfrm>
              <a:prstGeom prst="flowChartConnector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051" name="TextBox 2050">
                <a:extLst>
                  <a:ext uri="{FF2B5EF4-FFF2-40B4-BE49-F238E27FC236}">
                    <a16:creationId xmlns:a16="http://schemas.microsoft.com/office/drawing/2014/main" id="{93825E4A-8B6D-2D74-68F6-4271AC89ECA5}"/>
                  </a:ext>
                </a:extLst>
              </p:cNvPr>
              <p:cNvSpPr txBox="1"/>
              <p:nvPr/>
            </p:nvSpPr>
            <p:spPr>
              <a:xfrm>
                <a:off x="457198" y="3704571"/>
                <a:ext cx="269240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400" b="1" dirty="0">
                    <a:latin typeface="Century" panose="02040604050505020304" pitchFamily="18" charset="0"/>
                  </a:rPr>
                  <a:t>Proactive customer engagement</a:t>
                </a:r>
              </a:p>
            </p:txBody>
          </p:sp>
          <p:sp>
            <p:nvSpPr>
              <p:cNvPr id="2052" name="TextBox 2051">
                <a:extLst>
                  <a:ext uri="{FF2B5EF4-FFF2-40B4-BE49-F238E27FC236}">
                    <a16:creationId xmlns:a16="http://schemas.microsoft.com/office/drawing/2014/main" id="{8602F444-8527-6FC5-2914-6A5A2A27E5B1}"/>
                  </a:ext>
                </a:extLst>
              </p:cNvPr>
              <p:cNvSpPr txBox="1"/>
              <p:nvPr/>
            </p:nvSpPr>
            <p:spPr>
              <a:xfrm>
                <a:off x="457198" y="4240437"/>
                <a:ext cx="2692402" cy="10817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sz="1100" b="0" i="0" dirty="0">
                    <a:solidFill>
                      <a:srgbClr val="000000"/>
                    </a:solidFill>
                    <a:effectLst/>
                    <a:latin typeface="Outfit"/>
                  </a:rPr>
                  <a:t>AI agents foster proactive engagement with customers, anticipating needs and preferences to create a more satisfying shopping experience.</a:t>
                </a:r>
              </a:p>
            </p:txBody>
          </p:sp>
        </p:grpSp>
        <p:pic>
          <p:nvPicPr>
            <p:cNvPr id="2071" name="Picture 2070">
              <a:extLst>
                <a:ext uri="{FF2B5EF4-FFF2-40B4-BE49-F238E27FC236}">
                  <a16:creationId xmlns:a16="http://schemas.microsoft.com/office/drawing/2014/main" id="{2BDF42EE-F5DC-204E-93DC-92601E9918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28600" y="2697581"/>
              <a:ext cx="540000" cy="540000"/>
            </a:xfrm>
            <a:prstGeom prst="rect">
              <a:avLst/>
            </a:prstGeom>
          </p:spPr>
        </p:pic>
      </p:grpSp>
      <p:grpSp>
        <p:nvGrpSpPr>
          <p:cNvPr id="2077" name="Group 2076">
            <a:extLst>
              <a:ext uri="{FF2B5EF4-FFF2-40B4-BE49-F238E27FC236}">
                <a16:creationId xmlns:a16="http://schemas.microsoft.com/office/drawing/2014/main" id="{0A2045E8-C4B9-FCE8-9681-4EFBCDABC138}"/>
              </a:ext>
            </a:extLst>
          </p:cNvPr>
          <p:cNvGrpSpPr/>
          <p:nvPr/>
        </p:nvGrpSpPr>
        <p:grpSpPr>
          <a:xfrm>
            <a:off x="3279773" y="2514598"/>
            <a:ext cx="2692402" cy="2807609"/>
            <a:chOff x="3279773" y="2514598"/>
            <a:chExt cx="2692402" cy="2807609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B092662C-CCDA-20E2-DDA9-F60B0DC2F828}"/>
                </a:ext>
              </a:extLst>
            </p:cNvPr>
            <p:cNvGrpSpPr/>
            <p:nvPr/>
          </p:nvGrpSpPr>
          <p:grpSpPr>
            <a:xfrm>
              <a:off x="3279773" y="2514598"/>
              <a:ext cx="2692402" cy="2807609"/>
              <a:chOff x="457198" y="2514599"/>
              <a:chExt cx="2692402" cy="2807609"/>
            </a:xfrm>
          </p:grpSpPr>
          <p:sp>
            <p:nvSpPr>
              <p:cNvPr id="61" name="Flowchart: Connector 60">
                <a:extLst>
                  <a:ext uri="{FF2B5EF4-FFF2-40B4-BE49-F238E27FC236}">
                    <a16:creationId xmlns:a16="http://schemas.microsoft.com/office/drawing/2014/main" id="{2F0F3018-C574-DA9A-8CAE-D17C7B4BAFBB}"/>
                  </a:ext>
                </a:extLst>
              </p:cNvPr>
              <p:cNvSpPr/>
              <p:nvPr/>
            </p:nvSpPr>
            <p:spPr>
              <a:xfrm>
                <a:off x="584024" y="2514599"/>
                <a:ext cx="914399" cy="914400"/>
              </a:xfrm>
              <a:prstGeom prst="flowChartConnector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9BB973A1-0535-1708-05C3-F63E8D77F78A}"/>
                  </a:ext>
                </a:extLst>
              </p:cNvPr>
              <p:cNvSpPr txBox="1"/>
              <p:nvPr/>
            </p:nvSpPr>
            <p:spPr>
              <a:xfrm>
                <a:off x="457198" y="3704571"/>
                <a:ext cx="269240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400" b="1" dirty="0">
                    <a:latin typeface="Century" panose="02040604050505020304" pitchFamily="18" charset="0"/>
                  </a:rPr>
                  <a:t>Personalized upselling strategies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D655C7C-F8AD-5D08-922D-754BE49C5F8C}"/>
                  </a:ext>
                </a:extLst>
              </p:cNvPr>
              <p:cNvSpPr txBox="1"/>
              <p:nvPr/>
            </p:nvSpPr>
            <p:spPr>
              <a:xfrm>
                <a:off x="457198" y="4240437"/>
                <a:ext cx="2692402" cy="10817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sz="1100" b="0" i="0" dirty="0">
                    <a:solidFill>
                      <a:srgbClr val="000000"/>
                    </a:solidFill>
                    <a:effectLst/>
                    <a:latin typeface="Outfit"/>
                  </a:rPr>
                  <a:t>These agents enable tailored upselling techniques that resonate with individual customer preferences, boosting sales opportunities effectively.</a:t>
                </a:r>
              </a:p>
            </p:txBody>
          </p:sp>
        </p:grpSp>
        <p:pic>
          <p:nvPicPr>
            <p:cNvPr id="2073" name="Picture 2072">
              <a:extLst>
                <a:ext uri="{FF2B5EF4-FFF2-40B4-BE49-F238E27FC236}">
                  <a16:creationId xmlns:a16="http://schemas.microsoft.com/office/drawing/2014/main" id="{FF3FC65A-E3DF-741A-EC21-7034987712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93798" y="2697581"/>
              <a:ext cx="540000" cy="540000"/>
            </a:xfrm>
            <a:prstGeom prst="rect">
              <a:avLst/>
            </a:prstGeom>
          </p:spPr>
        </p:pic>
      </p:grpSp>
      <p:grpSp>
        <p:nvGrpSpPr>
          <p:cNvPr id="2076" name="Group 2075">
            <a:extLst>
              <a:ext uri="{FF2B5EF4-FFF2-40B4-BE49-F238E27FC236}">
                <a16:creationId xmlns:a16="http://schemas.microsoft.com/office/drawing/2014/main" id="{DA4E554C-61B4-E5D3-CAAA-9FCDD187BBDE}"/>
              </a:ext>
            </a:extLst>
          </p:cNvPr>
          <p:cNvGrpSpPr/>
          <p:nvPr/>
        </p:nvGrpSpPr>
        <p:grpSpPr>
          <a:xfrm>
            <a:off x="317498" y="2514599"/>
            <a:ext cx="2692402" cy="2880001"/>
            <a:chOff x="317498" y="2514599"/>
            <a:chExt cx="2692402" cy="2880001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61B0E1E2-6CE2-FCC3-A2ED-ED9936414AF5}"/>
                </a:ext>
              </a:extLst>
            </p:cNvPr>
            <p:cNvGrpSpPr/>
            <p:nvPr/>
          </p:nvGrpSpPr>
          <p:grpSpPr>
            <a:xfrm>
              <a:off x="317498" y="2514599"/>
              <a:ext cx="2692402" cy="2880001"/>
              <a:chOff x="457198" y="2514599"/>
              <a:chExt cx="2692402" cy="2880001"/>
            </a:xfrm>
          </p:grpSpPr>
          <p:sp>
            <p:nvSpPr>
              <p:cNvPr id="7" name="Flowchart: Connector 6">
                <a:extLst>
                  <a:ext uri="{FF2B5EF4-FFF2-40B4-BE49-F238E27FC236}">
                    <a16:creationId xmlns:a16="http://schemas.microsoft.com/office/drawing/2014/main" id="{30980BE9-00F2-92F6-7062-674FA58CDBF8}"/>
                  </a:ext>
                </a:extLst>
              </p:cNvPr>
              <p:cNvSpPr/>
              <p:nvPr/>
            </p:nvSpPr>
            <p:spPr>
              <a:xfrm>
                <a:off x="584024" y="2514599"/>
                <a:ext cx="914399" cy="914400"/>
              </a:xfrm>
              <a:prstGeom prst="flowChartConnector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840A018-3674-9230-8871-A09DBB48A397}"/>
                  </a:ext>
                </a:extLst>
              </p:cNvPr>
              <p:cNvSpPr txBox="1"/>
              <p:nvPr/>
            </p:nvSpPr>
            <p:spPr>
              <a:xfrm>
                <a:off x="457198" y="3704571"/>
                <a:ext cx="231140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400" b="1" dirty="0">
                    <a:latin typeface="Century" panose="02040604050505020304" pitchFamily="18" charset="0"/>
                  </a:rPr>
                  <a:t>AI agents as revenue drivers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26EC89E-436C-6B85-07CE-0A539F1158C6}"/>
                  </a:ext>
                </a:extLst>
              </p:cNvPr>
              <p:cNvSpPr txBox="1"/>
              <p:nvPr/>
            </p:nvSpPr>
            <p:spPr>
              <a:xfrm>
                <a:off x="457198" y="4240437"/>
                <a:ext cx="2692402" cy="11541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sz="1100" b="0" i="0" dirty="0">
                    <a:solidFill>
                      <a:srgbClr val="000000"/>
                    </a:solidFill>
                    <a:effectLst/>
                    <a:latin typeface="Outfit"/>
                  </a:rPr>
                  <a:t>AI agents are evolving from mere cost centers to significant contributors to revenue by facilitating personalized upselling and enhancing customer interactions.</a:t>
                </a:r>
              </a:p>
            </p:txBody>
          </p:sp>
        </p:grpSp>
        <p:pic>
          <p:nvPicPr>
            <p:cNvPr id="2075" name="Picture 2074">
              <a:extLst>
                <a:ext uri="{FF2B5EF4-FFF2-40B4-BE49-F238E27FC236}">
                  <a16:creationId xmlns:a16="http://schemas.microsoft.com/office/drawing/2014/main" id="{0DA13B1E-6D2F-B091-EE99-159FEA18B72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1523" y="2697581"/>
              <a:ext cx="540000" cy="54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236004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5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75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250"/>
                            </p:stCondLst>
                            <p:childTnLst>
                              <p:par>
                                <p:cTn id="2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750"/>
                            </p:stCondLst>
                            <p:childTnLst>
                              <p:par>
                                <p:cTn id="3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47CFE-C849-7592-D66B-90D8D5528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3AFC08-BE6A-D340-160D-B34EE6913F37}"/>
              </a:ext>
            </a:extLst>
          </p:cNvPr>
          <p:cNvSpPr txBox="1"/>
          <p:nvPr/>
        </p:nvSpPr>
        <p:spPr>
          <a:xfrm>
            <a:off x="457199" y="305191"/>
            <a:ext cx="107569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dirty="0">
                <a:solidFill>
                  <a:srgbClr val="000000"/>
                </a:solidFill>
                <a:effectLst/>
                <a:latin typeface="Century" panose="02040604050505020304" pitchFamily="18" charset="0"/>
              </a:rPr>
              <a:t>AI Agents and Market Evolution</a:t>
            </a:r>
            <a:endParaRPr lang="en-IN" sz="3200" b="1" dirty="0">
              <a:latin typeface="Century" panose="02040604050505020304" pitchFamily="18" charset="0"/>
            </a:endParaRPr>
          </a:p>
        </p:txBody>
      </p:sp>
      <p:sp>
        <p:nvSpPr>
          <p:cNvPr id="4" name="L-Shape 3">
            <a:extLst>
              <a:ext uri="{FF2B5EF4-FFF2-40B4-BE49-F238E27FC236}">
                <a16:creationId xmlns:a16="http://schemas.microsoft.com/office/drawing/2014/main" id="{BAD8356A-18AB-BE8B-5177-0B7A626532A0}"/>
              </a:ext>
            </a:extLst>
          </p:cNvPr>
          <p:cNvSpPr/>
          <p:nvPr/>
        </p:nvSpPr>
        <p:spPr>
          <a:xfrm rot="10800000">
            <a:off x="10932000" y="0"/>
            <a:ext cx="1260000" cy="1260000"/>
          </a:xfrm>
          <a:prstGeom prst="corner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1138E2-94F1-8F2C-6B8E-07D5120D0A6D}"/>
              </a:ext>
            </a:extLst>
          </p:cNvPr>
          <p:cNvSpPr txBox="1"/>
          <p:nvPr/>
        </p:nvSpPr>
        <p:spPr>
          <a:xfrm>
            <a:off x="457200" y="828411"/>
            <a:ext cx="8064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D4D4D"/>
                </a:solidFill>
                <a:effectLst/>
                <a:latin typeface="Outfit"/>
              </a:rPr>
              <a:t>Exploring the future landscape of AI in apparel retail</a:t>
            </a:r>
            <a:endParaRPr lang="en-IN" dirty="0"/>
          </a:p>
        </p:txBody>
      </p:sp>
      <p:sp>
        <p:nvSpPr>
          <p:cNvPr id="2" name="Flowchart: Process 1">
            <a:extLst>
              <a:ext uri="{FF2B5EF4-FFF2-40B4-BE49-F238E27FC236}">
                <a16:creationId xmlns:a16="http://schemas.microsoft.com/office/drawing/2014/main" id="{3FD341F8-ABA6-5E7E-73D1-8AFC13818699}"/>
              </a:ext>
            </a:extLst>
          </p:cNvPr>
          <p:cNvSpPr/>
          <p:nvPr/>
        </p:nvSpPr>
        <p:spPr>
          <a:xfrm>
            <a:off x="0" y="1890000"/>
            <a:ext cx="4064400" cy="4968000"/>
          </a:xfrm>
          <a:prstGeom prst="flowChartProcess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latin typeface="Century" panose="02040604050505020304" pitchFamily="18" charset="0"/>
            </a:endParaRP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4F0174C5-CF5C-918E-EEFD-B7C645D38FF0}"/>
              </a:ext>
            </a:extLst>
          </p:cNvPr>
          <p:cNvSpPr/>
          <p:nvPr/>
        </p:nvSpPr>
        <p:spPr>
          <a:xfrm>
            <a:off x="4064400" y="1890000"/>
            <a:ext cx="4064400" cy="4968000"/>
          </a:xfrm>
          <a:prstGeom prst="flowChartProcess">
            <a:avLst/>
          </a:prstGeom>
          <a:solidFill>
            <a:srgbClr val="0044FF"/>
          </a:solidFill>
          <a:ln>
            <a:solidFill>
              <a:srgbClr val="0044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0BBD22EC-99C4-1B35-B395-4619855EDE35}"/>
              </a:ext>
            </a:extLst>
          </p:cNvPr>
          <p:cNvSpPr/>
          <p:nvPr/>
        </p:nvSpPr>
        <p:spPr>
          <a:xfrm>
            <a:off x="8128800" y="1890000"/>
            <a:ext cx="4064400" cy="4968000"/>
          </a:xfrm>
          <a:prstGeom prst="flowChartProcess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995C5F8-8AA9-2709-6B86-2BF3F4735905}"/>
              </a:ext>
            </a:extLst>
          </p:cNvPr>
          <p:cNvGrpSpPr/>
          <p:nvPr/>
        </p:nvGrpSpPr>
        <p:grpSpPr>
          <a:xfrm>
            <a:off x="4489450" y="2780334"/>
            <a:ext cx="3429001" cy="3323623"/>
            <a:chOff x="4489450" y="2780334"/>
            <a:chExt cx="3429001" cy="3323623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A52F164-3F2F-4250-2ADC-BE44A75D60E4}"/>
                </a:ext>
              </a:extLst>
            </p:cNvPr>
            <p:cNvSpPr txBox="1"/>
            <p:nvPr/>
          </p:nvSpPr>
          <p:spPr>
            <a:xfrm>
              <a:off x="4489450" y="3991577"/>
              <a:ext cx="3429001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000" b="1" i="0" dirty="0">
                  <a:solidFill>
                    <a:srgbClr val="FFFFFF"/>
                  </a:solidFill>
                  <a:effectLst/>
                  <a:latin typeface="Century" panose="02040604050505020304" pitchFamily="18" charset="0"/>
                </a:rPr>
                <a:t>Medium-term Innovations (2026-2028)</a:t>
              </a:r>
              <a:endParaRPr lang="en-IN" sz="2000" b="1" dirty="0">
                <a:latin typeface="Century" panose="02040604050505020304" pitchFamily="18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62BEECF-08EF-7DE7-8B84-72CAF9E8BA26}"/>
                </a:ext>
              </a:extLst>
            </p:cNvPr>
            <p:cNvSpPr txBox="1"/>
            <p:nvPr/>
          </p:nvSpPr>
          <p:spPr>
            <a:xfrm>
              <a:off x="4489450" y="4761987"/>
              <a:ext cx="3429001" cy="13419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ts val="2538"/>
                </a:lnSpc>
              </a:pPr>
              <a:r>
                <a:rPr lang="en-US" sz="1400" b="1" i="0" dirty="0">
                  <a:solidFill>
                    <a:srgbClr val="FFFFFF"/>
                  </a:solidFill>
                  <a:effectLst/>
                  <a:latin typeface="Outfit"/>
                </a:rPr>
                <a:t>Autonomous shopping agents </a:t>
              </a:r>
              <a:r>
                <a:rPr lang="en-US" sz="1400" i="0" dirty="0">
                  <a:solidFill>
                    <a:srgbClr val="FFFFFF"/>
                  </a:solidFill>
                  <a:effectLst/>
                  <a:latin typeface="Outfit"/>
                </a:rPr>
                <a:t>will facilitate replenishment purchases, enhancing convenience and personalizing shopping experiences for consumers.</a:t>
              </a: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24F2DE5D-122B-2293-1B99-CFFB949DBB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10499" y="2780334"/>
              <a:ext cx="914400" cy="914400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67D0B35-5BED-9D7B-E327-4D418BC7A231}"/>
              </a:ext>
            </a:extLst>
          </p:cNvPr>
          <p:cNvGrpSpPr/>
          <p:nvPr/>
        </p:nvGrpSpPr>
        <p:grpSpPr>
          <a:xfrm>
            <a:off x="8553850" y="2780334"/>
            <a:ext cx="3429001" cy="3323623"/>
            <a:chOff x="8553850" y="2780334"/>
            <a:chExt cx="3429001" cy="3323623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2474BF94-212F-40F1-B32D-11EA622889A4}"/>
                </a:ext>
              </a:extLst>
            </p:cNvPr>
            <p:cNvGrpSpPr/>
            <p:nvPr/>
          </p:nvGrpSpPr>
          <p:grpSpPr>
            <a:xfrm>
              <a:off x="8553850" y="3991577"/>
              <a:ext cx="3429001" cy="2112380"/>
              <a:chOff x="457199" y="3991577"/>
              <a:chExt cx="3429001" cy="2112380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B25F6F1-C82C-70A0-C19E-ADEC7C8EA8BF}"/>
                  </a:ext>
                </a:extLst>
              </p:cNvPr>
              <p:cNvSpPr txBox="1"/>
              <p:nvPr/>
            </p:nvSpPr>
            <p:spPr>
              <a:xfrm>
                <a:off x="457199" y="3991577"/>
                <a:ext cx="3429001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000" b="1" i="0" dirty="0">
                    <a:solidFill>
                      <a:srgbClr val="FFFFFF"/>
                    </a:solidFill>
                    <a:effectLst/>
                    <a:latin typeface="Century" panose="02040604050505020304" pitchFamily="18" charset="0"/>
                  </a:rPr>
                  <a:t>Long-term Integration (2028+)</a:t>
                </a:r>
                <a:endParaRPr lang="en-IN" sz="2000" b="1" dirty="0">
                  <a:latin typeface="Century" panose="02040604050505020304" pitchFamily="18" charset="0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4B9F16E-93A5-2FD7-11E5-ECEC1F9005D3}"/>
                  </a:ext>
                </a:extLst>
              </p:cNvPr>
              <p:cNvSpPr txBox="1"/>
              <p:nvPr/>
            </p:nvSpPr>
            <p:spPr>
              <a:xfrm>
                <a:off x="457199" y="4761987"/>
                <a:ext cx="3429001" cy="13419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2538"/>
                  </a:lnSpc>
                </a:pPr>
                <a:r>
                  <a:rPr lang="en-US" sz="1400" i="0" dirty="0">
                    <a:solidFill>
                      <a:srgbClr val="FFFFFF"/>
                    </a:solidFill>
                    <a:effectLst/>
                    <a:latin typeface="Outfit"/>
                  </a:rPr>
                  <a:t>The rise of </a:t>
                </a:r>
                <a:r>
                  <a:rPr lang="en-US" sz="1400" b="1" i="0" dirty="0">
                    <a:solidFill>
                      <a:srgbClr val="FFFFFF"/>
                    </a:solidFill>
                    <a:effectLst/>
                    <a:latin typeface="Outfit"/>
                  </a:rPr>
                  <a:t>fully integrated AI ecosystems </a:t>
                </a:r>
                <a:r>
                  <a:rPr lang="en-US" sz="1400" i="0" dirty="0">
                    <a:solidFill>
                      <a:srgbClr val="FFFFFF"/>
                    </a:solidFill>
                    <a:effectLst/>
                    <a:latin typeface="Outfit"/>
                  </a:rPr>
                  <a:t>will enable comprehensive management of customer relationships, from engagement to post-purchase support.</a:t>
                </a:r>
              </a:p>
            </p:txBody>
          </p:sp>
        </p:grp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72809F20-EED1-C0CA-FF20-95A529BA02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74899" y="2780334"/>
              <a:ext cx="914400" cy="914400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D66BF01-FE72-D910-CB1A-04CB22642D7F}"/>
              </a:ext>
            </a:extLst>
          </p:cNvPr>
          <p:cNvGrpSpPr/>
          <p:nvPr/>
        </p:nvGrpSpPr>
        <p:grpSpPr>
          <a:xfrm>
            <a:off x="457199" y="2780334"/>
            <a:ext cx="3429001" cy="3323623"/>
            <a:chOff x="457199" y="2780334"/>
            <a:chExt cx="3429001" cy="3323623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BC53884-EE95-DE6B-905D-AF51A0D5BBB7}"/>
                </a:ext>
              </a:extLst>
            </p:cNvPr>
            <p:cNvGrpSpPr/>
            <p:nvPr/>
          </p:nvGrpSpPr>
          <p:grpSpPr>
            <a:xfrm>
              <a:off x="457199" y="3991577"/>
              <a:ext cx="3429001" cy="2112380"/>
              <a:chOff x="457199" y="3991577"/>
              <a:chExt cx="3429001" cy="2112380"/>
            </a:xfrm>
          </p:grpSpPr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FFDF6A3-74A7-B03A-37A6-087D427DB0F3}"/>
                  </a:ext>
                </a:extLst>
              </p:cNvPr>
              <p:cNvSpPr txBox="1"/>
              <p:nvPr/>
            </p:nvSpPr>
            <p:spPr>
              <a:xfrm>
                <a:off x="457199" y="3991577"/>
                <a:ext cx="3429001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000" b="1" i="0" dirty="0">
                    <a:solidFill>
                      <a:srgbClr val="FFFFFF"/>
                    </a:solidFill>
                    <a:effectLst/>
                    <a:latin typeface="Century" panose="02040604050505020304" pitchFamily="18" charset="0"/>
                  </a:rPr>
                  <a:t>Short-term Necessity</a:t>
                </a:r>
              </a:p>
              <a:p>
                <a:r>
                  <a:rPr lang="en-IN" sz="2000" b="1" i="0" dirty="0">
                    <a:solidFill>
                      <a:srgbClr val="FFFFFF"/>
                    </a:solidFill>
                    <a:effectLst/>
                    <a:latin typeface="Century" panose="02040604050505020304" pitchFamily="18" charset="0"/>
                  </a:rPr>
                  <a:t>(2025-2026)</a:t>
                </a:r>
                <a:endParaRPr lang="en-IN" sz="2000" b="1" dirty="0">
                  <a:latin typeface="Century" panose="02040604050505020304" pitchFamily="18" charset="0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2DD4A56-A017-858C-3E11-69D4FF1E7800}"/>
                  </a:ext>
                </a:extLst>
              </p:cNvPr>
              <p:cNvSpPr txBox="1"/>
              <p:nvPr/>
            </p:nvSpPr>
            <p:spPr>
              <a:xfrm>
                <a:off x="457199" y="4761987"/>
                <a:ext cx="3429001" cy="13419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2538"/>
                  </a:lnSpc>
                </a:pPr>
                <a:r>
                  <a:rPr lang="en-US" sz="1400" b="1" i="0" dirty="0">
                    <a:solidFill>
                      <a:srgbClr val="FFFFFF"/>
                    </a:solidFill>
                    <a:effectLst/>
                    <a:latin typeface="Outfit"/>
                  </a:rPr>
                  <a:t>Customer service automation</a:t>
                </a:r>
                <a:r>
                  <a:rPr lang="en-US" sz="1400" b="0" i="0" dirty="0">
                    <a:solidFill>
                      <a:srgbClr val="FFFFFF"/>
                    </a:solidFill>
                    <a:effectLst/>
                    <a:latin typeface="Outfit"/>
                  </a:rPr>
                  <a:t> emerges as a critical component for competitive advantage in the retail sector, driving efficiency and customer satisfaction.</a:t>
                </a:r>
              </a:p>
            </p:txBody>
          </p:sp>
        </p:grp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FF254D3F-8250-2536-858F-D07E2A9B61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6099" y="2780334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563105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5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2" grpId="0" animBg="1"/>
      <p:bldP spid="5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F59B5-53FD-3941-BB7B-A0ADDBB1A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761F6A-3D70-1814-0236-3E452F9D287A}"/>
              </a:ext>
            </a:extLst>
          </p:cNvPr>
          <p:cNvSpPr txBox="1"/>
          <p:nvPr/>
        </p:nvSpPr>
        <p:spPr>
          <a:xfrm>
            <a:off x="457199" y="305191"/>
            <a:ext cx="107569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dirty="0">
                <a:solidFill>
                  <a:srgbClr val="000000"/>
                </a:solidFill>
                <a:effectLst/>
                <a:latin typeface="Century" panose="02040604050505020304" pitchFamily="18" charset="0"/>
              </a:rPr>
              <a:t>Transforming AI Agents in Retail</a:t>
            </a:r>
            <a:endParaRPr lang="en-IN" sz="3200" b="1" dirty="0">
              <a:latin typeface="Century" panose="02040604050505020304" pitchFamily="18" charset="0"/>
            </a:endParaRPr>
          </a:p>
        </p:txBody>
      </p:sp>
      <p:sp>
        <p:nvSpPr>
          <p:cNvPr id="4" name="L-Shape 3">
            <a:extLst>
              <a:ext uri="{FF2B5EF4-FFF2-40B4-BE49-F238E27FC236}">
                <a16:creationId xmlns:a16="http://schemas.microsoft.com/office/drawing/2014/main" id="{7978BCD6-22D2-BEBD-B61F-4E844308DF6D}"/>
              </a:ext>
            </a:extLst>
          </p:cNvPr>
          <p:cNvSpPr/>
          <p:nvPr/>
        </p:nvSpPr>
        <p:spPr>
          <a:xfrm rot="10800000">
            <a:off x="10932000" y="0"/>
            <a:ext cx="1260000" cy="1260000"/>
          </a:xfrm>
          <a:prstGeom prst="corner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6F87B0-8892-5E45-7AD7-61FDCA02839F}"/>
              </a:ext>
            </a:extLst>
          </p:cNvPr>
          <p:cNvSpPr txBox="1"/>
          <p:nvPr/>
        </p:nvSpPr>
        <p:spPr>
          <a:xfrm>
            <a:off x="457200" y="828411"/>
            <a:ext cx="8064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D4D4D"/>
                </a:solidFill>
                <a:effectLst/>
                <a:latin typeface="Outfit"/>
              </a:rPr>
              <a:t>Exploring AI's role in enhancing revenue and customer engagement</a:t>
            </a:r>
            <a:endParaRPr lang="en-IN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887A6B5-0A3A-C611-D4E8-9BDF54163F50}"/>
              </a:ext>
            </a:extLst>
          </p:cNvPr>
          <p:cNvGrpSpPr/>
          <p:nvPr/>
        </p:nvGrpSpPr>
        <p:grpSpPr>
          <a:xfrm>
            <a:off x="457198" y="2604129"/>
            <a:ext cx="2273301" cy="2655225"/>
            <a:chOff x="457198" y="2261229"/>
            <a:chExt cx="2273301" cy="2655225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F954424F-4542-3A5D-A774-09F4F6A2E7C8}"/>
                </a:ext>
              </a:extLst>
            </p:cNvPr>
            <p:cNvGrpSpPr/>
            <p:nvPr/>
          </p:nvGrpSpPr>
          <p:grpSpPr>
            <a:xfrm>
              <a:off x="457198" y="3276600"/>
              <a:ext cx="2273301" cy="1639854"/>
              <a:chOff x="457198" y="2108200"/>
              <a:chExt cx="2273301" cy="1639854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789E06D-D7C6-047C-1825-B2DA57C329B3}"/>
                  </a:ext>
                </a:extLst>
              </p:cNvPr>
              <p:cNvSpPr txBox="1"/>
              <p:nvPr/>
            </p:nvSpPr>
            <p:spPr>
              <a:xfrm>
                <a:off x="457198" y="2108200"/>
                <a:ext cx="227330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b="1" dirty="0">
                    <a:latin typeface="Century" panose="02040604050505020304" pitchFamily="18" charset="0"/>
                  </a:rPr>
                  <a:t>Critical transformation point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6E7AC3D-9EEA-C1A2-B406-021C9837B385}"/>
                  </a:ext>
                </a:extLst>
              </p:cNvPr>
              <p:cNvSpPr txBox="1"/>
              <p:nvPr/>
            </p:nvSpPr>
            <p:spPr>
              <a:xfrm>
                <a:off x="457198" y="2732391"/>
                <a:ext cx="2273301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200" dirty="0"/>
                  <a:t>The U.S. apparel retail sector is experiencing significant changes requiring adaptation to customer expectations and operational pressures.</a:t>
                </a:r>
                <a:endParaRPr lang="en-IN" sz="1200" dirty="0"/>
              </a:p>
            </p:txBody>
          </p:sp>
        </p:grp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112469FD-9070-9AF7-F459-BE358A7670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6098" y="2261229"/>
              <a:ext cx="914400" cy="914400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04614D3-294E-856E-38ED-E927E7121B49}"/>
              </a:ext>
            </a:extLst>
          </p:cNvPr>
          <p:cNvGrpSpPr/>
          <p:nvPr/>
        </p:nvGrpSpPr>
        <p:grpSpPr>
          <a:xfrm>
            <a:off x="2730499" y="2604129"/>
            <a:ext cx="2273301" cy="2470559"/>
            <a:chOff x="2730499" y="2261229"/>
            <a:chExt cx="2273301" cy="2470559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A9EBEC7-3CC3-AA1D-DBEC-4C17325AB8D3}"/>
                </a:ext>
              </a:extLst>
            </p:cNvPr>
            <p:cNvGrpSpPr/>
            <p:nvPr/>
          </p:nvGrpSpPr>
          <p:grpSpPr>
            <a:xfrm>
              <a:off x="2730499" y="3276600"/>
              <a:ext cx="2273301" cy="1455188"/>
              <a:chOff x="2730499" y="2108200"/>
              <a:chExt cx="2273301" cy="1455188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686F294-B600-2996-5511-C5A3FF578A92}"/>
                  </a:ext>
                </a:extLst>
              </p:cNvPr>
              <p:cNvSpPr txBox="1"/>
              <p:nvPr/>
            </p:nvSpPr>
            <p:spPr>
              <a:xfrm>
                <a:off x="2730499" y="2108200"/>
                <a:ext cx="227330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b="1" dirty="0">
                    <a:latin typeface="Century" panose="02040604050505020304" pitchFamily="18" charset="0"/>
                  </a:rPr>
                  <a:t>Importance of AI agents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3EC1779-164E-7D3A-59B2-5F45BFCCC54D}"/>
                  </a:ext>
                </a:extLst>
              </p:cNvPr>
              <p:cNvSpPr txBox="1"/>
              <p:nvPr/>
            </p:nvSpPr>
            <p:spPr>
              <a:xfrm>
                <a:off x="2730499" y="2732391"/>
                <a:ext cx="2273301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200" dirty="0"/>
                  <a:t>AI agents are essential to meet rising customer expectations and improve operational efficiency in the retail sector.</a:t>
                </a:r>
                <a:endParaRPr lang="en-IN" sz="1200" dirty="0"/>
              </a:p>
            </p:txBody>
          </p:sp>
        </p:grp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6C01E4A0-4EBF-8718-64E0-8CDD08BE4E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19399" y="2261229"/>
              <a:ext cx="914400" cy="914400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1D683BC-C4C7-1E84-F5F6-E3374CC4241D}"/>
              </a:ext>
            </a:extLst>
          </p:cNvPr>
          <p:cNvGrpSpPr/>
          <p:nvPr/>
        </p:nvGrpSpPr>
        <p:grpSpPr>
          <a:xfrm>
            <a:off x="5003800" y="2604129"/>
            <a:ext cx="2273301" cy="2470559"/>
            <a:chOff x="5003800" y="2261229"/>
            <a:chExt cx="2273301" cy="2470559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D8AE549E-55AF-0CB1-5CF0-2C262D689081}"/>
                </a:ext>
              </a:extLst>
            </p:cNvPr>
            <p:cNvGrpSpPr/>
            <p:nvPr/>
          </p:nvGrpSpPr>
          <p:grpSpPr>
            <a:xfrm>
              <a:off x="5003800" y="3276600"/>
              <a:ext cx="2273301" cy="1455188"/>
              <a:chOff x="5003800" y="2108200"/>
              <a:chExt cx="2273301" cy="1455188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BD1E1B1-745C-4894-8CEC-B0FA3DDC75C9}"/>
                  </a:ext>
                </a:extLst>
              </p:cNvPr>
              <p:cNvSpPr txBox="1"/>
              <p:nvPr/>
            </p:nvSpPr>
            <p:spPr>
              <a:xfrm>
                <a:off x="5003800" y="2108200"/>
                <a:ext cx="227330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b="1" dirty="0">
                    <a:latin typeface="Century" panose="02040604050505020304" pitchFamily="18" charset="0"/>
                  </a:rPr>
                  <a:t>Need for data investment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442D953-ABFA-C1DA-BDB4-DE2E8A9A0F02}"/>
                  </a:ext>
                </a:extLst>
              </p:cNvPr>
              <p:cNvSpPr txBox="1"/>
              <p:nvPr/>
            </p:nvSpPr>
            <p:spPr>
              <a:xfrm>
                <a:off x="5003800" y="2732391"/>
                <a:ext cx="2273301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200" dirty="0"/>
                  <a:t>Successful implementation of AI requires substantial investments in data infrastructure to support analytics and decision-making.</a:t>
                </a:r>
                <a:endParaRPr lang="en-IN" sz="1200" dirty="0"/>
              </a:p>
            </p:txBody>
          </p:sp>
        </p:grp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F9C0F81C-1893-2C3A-78F5-8A182A8732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92700" y="2261229"/>
              <a:ext cx="914400" cy="914400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652BAA5-F127-69D7-7CEF-66FEF41E590E}"/>
              </a:ext>
            </a:extLst>
          </p:cNvPr>
          <p:cNvGrpSpPr/>
          <p:nvPr/>
        </p:nvGrpSpPr>
        <p:grpSpPr>
          <a:xfrm>
            <a:off x="7277101" y="2604129"/>
            <a:ext cx="2273301" cy="2470559"/>
            <a:chOff x="7277101" y="2261229"/>
            <a:chExt cx="2273301" cy="2470559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FA5874A6-BAC1-A0D0-A35E-76B5EB908827}"/>
                </a:ext>
              </a:extLst>
            </p:cNvPr>
            <p:cNvGrpSpPr/>
            <p:nvPr/>
          </p:nvGrpSpPr>
          <p:grpSpPr>
            <a:xfrm>
              <a:off x="7277101" y="3276600"/>
              <a:ext cx="2273301" cy="1455188"/>
              <a:chOff x="7277101" y="2108200"/>
              <a:chExt cx="2273301" cy="1455188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2399D9B-1BC9-0237-908D-AA3005CE56C4}"/>
                  </a:ext>
                </a:extLst>
              </p:cNvPr>
              <p:cNvSpPr txBox="1"/>
              <p:nvPr/>
            </p:nvSpPr>
            <p:spPr>
              <a:xfrm>
                <a:off x="7277101" y="2108200"/>
                <a:ext cx="227330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b="1" dirty="0">
                    <a:latin typeface="Century" panose="02040604050505020304" pitchFamily="18" charset="0"/>
                  </a:rPr>
                  <a:t>Integration challenges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5577543-2540-E4FE-40B0-E1EC27B20A8B}"/>
                  </a:ext>
                </a:extLst>
              </p:cNvPr>
              <p:cNvSpPr txBox="1"/>
              <p:nvPr/>
            </p:nvSpPr>
            <p:spPr>
              <a:xfrm>
                <a:off x="7277101" y="2732391"/>
                <a:ext cx="2273301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200" dirty="0"/>
                  <a:t>Seamless integration of AI solutions into existing systems is crucial for maximizing benefits and minimizing disruptions.</a:t>
                </a:r>
                <a:endParaRPr lang="en-IN" sz="1200" dirty="0"/>
              </a:p>
            </p:txBody>
          </p:sp>
        </p:grp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4F9BB49A-B284-DF82-441A-C51CA40D2E8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66001" y="2261229"/>
              <a:ext cx="914400" cy="914400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1993FB0-7A21-9559-C441-31F100A9A050}"/>
              </a:ext>
            </a:extLst>
          </p:cNvPr>
          <p:cNvGrpSpPr/>
          <p:nvPr/>
        </p:nvGrpSpPr>
        <p:grpSpPr>
          <a:xfrm>
            <a:off x="9550402" y="2604129"/>
            <a:ext cx="2273301" cy="2470559"/>
            <a:chOff x="9550402" y="2261229"/>
            <a:chExt cx="2273301" cy="2470559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0451E574-B577-5468-2113-2B1D7EDD2BF3}"/>
                </a:ext>
              </a:extLst>
            </p:cNvPr>
            <p:cNvGrpSpPr/>
            <p:nvPr/>
          </p:nvGrpSpPr>
          <p:grpSpPr>
            <a:xfrm>
              <a:off x="9550402" y="3276600"/>
              <a:ext cx="2273301" cy="1455188"/>
              <a:chOff x="9550402" y="2108200"/>
              <a:chExt cx="2273301" cy="1455188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6A85BAE-0D7B-97A0-5286-75D6EF3C2B99}"/>
                  </a:ext>
                </a:extLst>
              </p:cNvPr>
              <p:cNvSpPr txBox="1"/>
              <p:nvPr/>
            </p:nvSpPr>
            <p:spPr>
              <a:xfrm>
                <a:off x="9550402" y="2108200"/>
                <a:ext cx="227330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b="1" dirty="0">
                    <a:latin typeface="Century" panose="02040604050505020304" pitchFamily="18" charset="0"/>
                  </a:rPr>
                  <a:t>Trust-first approach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8E1B3A1-B8DE-1BFB-CF30-C872272F3F3A}"/>
                  </a:ext>
                </a:extLst>
              </p:cNvPr>
              <p:cNvSpPr txBox="1"/>
              <p:nvPr/>
            </p:nvSpPr>
            <p:spPr>
              <a:xfrm>
                <a:off x="9550402" y="2732391"/>
                <a:ext cx="2273301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200" dirty="0"/>
                  <a:t>A trust-first approach is vital in building confidence among customers and stakeholders when deploying AI technologies.</a:t>
                </a:r>
                <a:endParaRPr lang="en-IN" sz="1200" dirty="0"/>
              </a:p>
            </p:txBody>
          </p:sp>
        </p:grp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2850192C-146C-DFB8-37BA-3D60C5260B1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639302" y="2261229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4172908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536DB9-9862-E005-A595-F9C7C856010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357" b="15393"/>
          <a:stretch/>
        </p:blipFill>
        <p:spPr>
          <a:xfrm>
            <a:off x="524933" y="558799"/>
            <a:ext cx="11142133" cy="5753101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0E6EBEB9-3442-8CF7-8705-759C1F127068}"/>
              </a:ext>
            </a:extLst>
          </p:cNvPr>
          <p:cNvGrpSpPr/>
          <p:nvPr/>
        </p:nvGrpSpPr>
        <p:grpSpPr>
          <a:xfrm>
            <a:off x="1235999" y="4053674"/>
            <a:ext cx="9720000" cy="2258226"/>
            <a:chOff x="1235999" y="4053674"/>
            <a:chExt cx="9720000" cy="2258226"/>
          </a:xfrm>
        </p:grpSpPr>
        <p:sp>
          <p:nvSpPr>
            <p:cNvPr id="7" name="Flowchart: Process 6">
              <a:extLst>
                <a:ext uri="{FF2B5EF4-FFF2-40B4-BE49-F238E27FC236}">
                  <a16:creationId xmlns:a16="http://schemas.microsoft.com/office/drawing/2014/main" id="{D24BCEEC-1422-E63D-2370-42D63519C83E}"/>
                </a:ext>
              </a:extLst>
            </p:cNvPr>
            <p:cNvSpPr/>
            <p:nvPr/>
          </p:nvSpPr>
          <p:spPr>
            <a:xfrm>
              <a:off x="1235999" y="5270500"/>
              <a:ext cx="9720000" cy="1041400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" name="Flowchart: Process 7">
              <a:extLst>
                <a:ext uri="{FF2B5EF4-FFF2-40B4-BE49-F238E27FC236}">
                  <a16:creationId xmlns:a16="http://schemas.microsoft.com/office/drawing/2014/main" id="{83657884-2DEA-6838-D893-AA2AAF9F368A}"/>
                </a:ext>
              </a:extLst>
            </p:cNvPr>
            <p:cNvSpPr/>
            <p:nvPr/>
          </p:nvSpPr>
          <p:spPr>
            <a:xfrm>
              <a:off x="1955999" y="4662087"/>
              <a:ext cx="9000000" cy="612648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" name="Flowchart: Process 8">
              <a:extLst>
                <a:ext uri="{FF2B5EF4-FFF2-40B4-BE49-F238E27FC236}">
                  <a16:creationId xmlns:a16="http://schemas.microsoft.com/office/drawing/2014/main" id="{6933396D-360E-9437-F3CE-0F2DF3193D31}"/>
                </a:ext>
              </a:extLst>
            </p:cNvPr>
            <p:cNvSpPr/>
            <p:nvPr/>
          </p:nvSpPr>
          <p:spPr>
            <a:xfrm>
              <a:off x="2675999" y="4053674"/>
              <a:ext cx="8280000" cy="612648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8DA2957-3D2D-2EEB-5A1F-B2F2D46147BF}"/>
                </a:ext>
              </a:extLst>
            </p:cNvPr>
            <p:cNvSpPr txBox="1"/>
            <p:nvPr/>
          </p:nvSpPr>
          <p:spPr>
            <a:xfrm>
              <a:off x="2065598" y="5270500"/>
              <a:ext cx="580390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2800" b="1" i="0" dirty="0">
                  <a:solidFill>
                    <a:srgbClr val="000000"/>
                  </a:solidFill>
                  <a:effectLst/>
                  <a:latin typeface="Century" panose="02040604050505020304" pitchFamily="18" charset="0"/>
                </a:rPr>
                <a:t>Embrace AI for Competitive Edge</a:t>
              </a:r>
              <a:endParaRPr lang="en-IN" sz="2800" b="1" dirty="0">
                <a:latin typeface="Century" panose="02040604050505020304" pitchFamily="18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148B8F2-7C76-C297-FEFE-266737F52DE7}"/>
                </a:ext>
              </a:extLst>
            </p:cNvPr>
            <p:cNvSpPr txBox="1"/>
            <p:nvPr/>
          </p:nvSpPr>
          <p:spPr>
            <a:xfrm>
              <a:off x="2065598" y="5806419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Maximize Customer Satisfaction and Business Impact</a:t>
              </a:r>
              <a:endParaRPr lang="en-IN" dirty="0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0D03D8A4-24F3-A746-C72F-D0AA9D7147DA}"/>
              </a:ext>
            </a:extLst>
          </p:cNvPr>
          <p:cNvSpPr txBox="1"/>
          <p:nvPr/>
        </p:nvSpPr>
        <p:spPr>
          <a:xfrm>
            <a:off x="8341281" y="4908490"/>
            <a:ext cx="127443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b="1" dirty="0">
                <a:latin typeface="Century" panose="02040604050505020304" pitchFamily="18" charset="0"/>
              </a:rPr>
              <a:t>Hemanth Chowdary Bezawada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0BFF092-6C92-8CF9-E1A7-6F89236F3C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8801" y="4951477"/>
            <a:ext cx="914400" cy="882231"/>
          </a:xfrm>
          <a:prstGeom prst="flowChartConnector">
            <a:avLst/>
          </a:prstGeom>
        </p:spPr>
      </p:pic>
    </p:spTree>
    <p:extLst>
      <p:ext uri="{BB962C8B-B14F-4D97-AF65-F5344CB8AC3E}">
        <p14:creationId xmlns:p14="http://schemas.microsoft.com/office/powerpoint/2010/main" val="14748976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500"/>
                            </p:stCondLst>
                            <p:childTnLst>
                              <p:par>
                                <p:cTn id="19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</TotalTime>
  <Words>936</Words>
  <Application>Microsoft Office PowerPoint</Application>
  <PresentationFormat>Widescreen</PresentationFormat>
  <Paragraphs>101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Century</vt:lpstr>
      <vt:lpstr>Outfit</vt:lpstr>
      <vt:lpstr>Office Theme</vt:lpstr>
      <vt:lpstr>Transformative Impact of AI Agents in Apparel Retail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hemanth chowdary</dc:creator>
  <cp:lastModifiedBy>hemanth chowdary</cp:lastModifiedBy>
  <cp:revision>1</cp:revision>
  <dcterms:created xsi:type="dcterms:W3CDTF">2025-05-28T12:00:42Z</dcterms:created>
  <dcterms:modified xsi:type="dcterms:W3CDTF">2025-05-28T20:04:06Z</dcterms:modified>
</cp:coreProperties>
</file>